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kt" id="{E2BF7D93-5BBA-2B8A-6196-8D9CBDF9EEBD}">
          <p14:sldIdLst>
            <p14:sldId id="256"/>
            <p14:sldId id="257"/>
            <p14:sldId id="258"/>
            <p14:sldId id="259"/>
          </p14:sldIdLst>
        </p14:section>
        <p14:section name="Aktueller Stand" id="{7957D031-77A8-B6C7-647C-6110AE77F56F}">
          <p14:sldIdLst>
            <p14:sldId id="260"/>
            <p14:sldId id="261"/>
            <p14:sldId id="262"/>
            <p14:sldId id="263"/>
          </p14:sldIdLst>
        </p14:section>
        <p14:section name="Probleme und Lösung" id="{59B99469-FCE9-3394-FCFF-0BCEE8F5E944}">
          <p14:sldIdLst>
            <p14:sldId id="264"/>
            <p14:sldId id="265"/>
            <p14:sldId id="266"/>
            <p14:sldId id="267"/>
          </p14:sldIdLst>
        </p14:section>
        <p14:section name="Projektmanagement" id="{3E81EADE-E8C2-26FA-8FA1-91F10DC45020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Ausblick" id="{31B48799-846D-875A-EED3-327E4A8A1045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29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Wir zeigen heute, wo unsere Diplomarbeit AQS steht: was schon funktioniert, was schiefgegangen ist und wie wir das Projekt planen.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Indoor gibt es kein GPS. Deshalb setzen wir auf Edge-KI direkt an Bord: Kamera, LiDAR und Optical Flow liefern die Daten, der Raspberry Pi entscheidet und schickt Befehle an den Flugregler.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vier Ziele stammen aus dem Diplomarbeitsantrag. Jedes hat ein klares Abnahmekriterium. Ziel 3 ist teilweise erreicht, weil die Objekterkennung schon läuft. Langfristig wollen wir mehrere Drohnen als Schwarm bauen – dazu am Ende mehr.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Ich kümmere mich um die Hardware, Noah um Software und KI. So können beide Teile parallel laufen und kommen erst bei der Integration zusammen.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der Zwischenpräsentation 1 war der Hardware-Aufbau für November und Dezember geplant. Tatsächlich war er im Oktober fertig, und die Drohne ist schon geflogen.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alles, was fertig ist: Konzept, Schaltplan, Prototyp 1, Erstflug und die Objekterkennung. In der Mitte, was gerade läuft: der neue Rahmen aus PC-Nylon und die Halterungen. Rechts die nächsten Schritte.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Prototyp 1. Wir haben ihn komplett nach Schaltplan aufgebaut, ArduPilot konfiguriert und ihn dann mit einer normalen RC-Fernsteuerung geflogen. Auf der nächsten Folie sieht man das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das Video vom ersten Flug. Video einfügen: im Platzhalter auf das Video-Symbol klicken oder Einfügen › Video › Dieses Gerät. Beim Abspielen darauf achten: Man sieht, dass die Drohne fliegt, aber noch unruhig ist – das war die Vibration der PLA-Arme.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 haben zuerst mit ABS einen Testdruck gemacht – [Grund ergänzen]. Dann haben wir Prototyp 1 aus PLA gebaut. Er ist geflogen, aber die Arme haben zu stark vibriert, und die Vibrationen haben die Sensoren im Flugregler gestört. Deshalb drucken wir jetzt mit PC-Nylon, das zäher ist und Schwingungen besser dämpft.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Gerade konstruiere ich für jedes Bauteil eine eigene Halterung. Wichtig sind dabei vier Dinge: der Schwerpunkt in der Mitte, entkoppelte Montage gegen Vibrationen, freie Sicht für die Sensoren und der Bauraum der Drucker.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Noah hat den Hailo-Beschleuniger in Betrieb genommen und eine Objekterkennung geschrieben, die Objekte erkennt, verfolgt und mit einem Rahmen markiert. Darauf bauen später die Tür- und Hinderniserkennung auf.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Schaltplan ist nach EN 81346 aufgebaut. Der Raspberry Pi bekommt einen eigenen 5-Volt-Wandler, weil der interne BEC des Flugreglers nicht reicht.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Software-Phase ist mit drei Monaten am längsten, weil die GPS-freie Navigation der schwierigste Teil ist. Hardware und Konzept haben wir bewusst früh abgeschlossen.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PSP teilt das Projekt in sechs Teilprojekte. Hardware ist mein Bereich, Software und KI der von Noah.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rote Linie ist der heutige Stand. Blau ist erledigt, Orange läuft gerade, die grauen Bereiche sind Ferien.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die fixen Schultermine, rechts unsere technischen Meilensteine, an denen wir messen, ob der Prototyp im Plan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kritische Pfad dauert 31 Wochen. Der Materialwechsel auf PC-Nylon gefährdet den Termin nicht, weil der neue Rahmen sieben Wochen Puffer 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Vibrationsrisiko ist schon eingetreten und mit dem Materialwechsel behandelt. Am kritischsten bleiben Abstürze bei Tests und die Positionsdrift ohne GPS.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Materialkosten liegen nach unserer Schätzung bei rund 700 Euro. Geplant sind etwa 460 Arbeitsstunden für uns beide zusammen.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 zur Zwischenpräsentation 2 am 10. Dezember soll der neue Rahmen fertig sein und der Raspberry Pi erste Steuerbefehle an den Flugregler schicken.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Langfristig wollen wir mehrere Drohnen bauen, die als Schwarm zusammenarbeiten. Die Basis ist eine einzelne Drohne, die zuverlässig autonom fliegt – das ist das Ziel dieser Diplomarbeit.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Danke für die Aufmerksamkeit – wir beantworten gerne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hel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rech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26974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2697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457200"/>
            <a:ext cx="10566806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200" dirty="0">
                <a:solidFill>
                  <a:srgbClr val="7FB2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66806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media" idx="102" hasCustomPrompt="1"/>
          </p:nvPr>
        </p:nvSpPr>
        <p:spPr>
          <a:xfrm>
            <a:off x="1947672" y="1463040"/>
            <a:ext cx="8293608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Video einfügen: auf das Symbol klicken oder Einfügen › Video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A9B8C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pic" idx="102" hasCustomPrompt="1"/>
          </p:nvPr>
        </p:nvSpPr>
        <p:spPr>
          <a:xfrm>
            <a:off x="812902" y="1783080"/>
            <a:ext cx="5157216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Screenshot einfügen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nk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ss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DCE6F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 descr="Prototyp 1 des Quadrocopters mit Flugregler-Stack und Empfäng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49594" y="0"/>
            <a:ext cx="5842102" cy="6858000"/>
          </a:xfrm>
          <a:prstGeom prst="rect">
            <a:avLst/>
          </a:prstGeom>
        </p:spPr>
      </p:pic>
      <p:sp>
        <p:nvSpPr>
          <p:cNvPr id="3" name="text-1"/>
          <p:cNvSpPr txBox="1"/>
          <p:nvPr/>
        </p:nvSpPr>
        <p:spPr>
          <a:xfrm>
            <a:off x="812902" y="8138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B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DIPLOMARBEIT 2026/27 · 5AHWII</a:t>
            </a:r>
            <a:endParaRPr lang="en-US" sz="1200" dirty="0"/>
          </a:p>
        </p:txBody>
      </p:sp>
      <p:sp>
        <p:nvSpPr>
          <p:cNvPr id="4" name="text-2"/>
          <p:cNvSpPr txBox="1"/>
          <p:nvPr/>
        </p:nvSpPr>
        <p:spPr>
          <a:xfrm>
            <a:off x="812902" y="118872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AQS –</a:t>
            </a:r>
            <a:endParaRPr lang="en-US" sz="5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Zwischenstand</a:t>
            </a:r>
            <a:endParaRPr lang="en-US" sz="5000" dirty="0"/>
          </a:p>
        </p:txBody>
      </p:sp>
      <p:sp>
        <p:nvSpPr>
          <p:cNvPr id="5" name="text-3"/>
          <p:cNvSpPr txBox="1"/>
          <p:nvPr/>
        </p:nvSpPr>
        <p:spPr>
          <a:xfrm>
            <a:off x="812902" y="2971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Autonomes Quadrocopter-System: Fortschritt, Probleme und Projektmanagement</a:t>
            </a:r>
            <a:endParaRPr lang="en-US" sz="2200" dirty="0"/>
          </a:p>
        </p:txBody>
      </p:sp>
      <p:sp>
        <p:nvSpPr>
          <p:cNvPr id="6" name="text-4"/>
          <p:cNvSpPr txBox="1"/>
          <p:nvPr/>
        </p:nvSpPr>
        <p:spPr>
          <a:xfrm>
            <a:off x="812902" y="489204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Derick Miguel Esguerra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Hardware &amp; Integration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Dallamassl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Software &amp; KI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9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22.10.2026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Worum es geht</a:t>
            </a:r>
            <a:endParaRPr lang="en-US" sz="3200" dirty="0"/>
          </a:p>
        </p:txBody>
      </p:sp>
      <p:sp>
        <p:nvSpPr>
          <p:cNvPr id="4" name="shape-5"/>
          <p:cNvSpPr/>
          <p:nvPr/>
        </p:nvSpPr>
        <p:spPr>
          <a:xfrm>
            <a:off x="812902" y="1783080"/>
            <a:ext cx="5157216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-6"/>
          <p:cNvSpPr txBox="1"/>
          <p:nvPr/>
        </p:nvSpPr>
        <p:spPr>
          <a:xfrm>
            <a:off x="1114654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000" dirty="0"/>
          </a:p>
        </p:txBody>
      </p:sp>
      <p:sp>
        <p:nvSpPr>
          <p:cNvPr id="6" name="text-7"/>
          <p:cNvSpPr txBox="1"/>
          <p:nvPr/>
        </p:nvSpPr>
        <p:spPr>
          <a:xfrm>
            <a:off x="1114654" y="25603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Gebäuden gibt es kein zuverlässiges GPS-Signal.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Manuelles Fliegen in engen Räumen ist fehleranfällig.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 autonome Systeme sind zu teuer oder zu groß.</a:t>
            </a:r>
            <a:endParaRPr lang="en-US" sz="1600" dirty="0"/>
          </a:p>
        </p:txBody>
      </p:sp>
      <p:sp>
        <p:nvSpPr>
          <p:cNvPr id="7" name="shape-8"/>
          <p:cNvSpPr/>
          <p:nvPr/>
        </p:nvSpPr>
        <p:spPr>
          <a:xfrm>
            <a:off x="6226150" y="1783080"/>
            <a:ext cx="5157216" cy="27432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8" name="text-9"/>
          <p:cNvSpPr txBox="1"/>
          <p:nvPr/>
        </p:nvSpPr>
        <p:spPr>
          <a:xfrm>
            <a:off x="6527902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FB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Lösung</a:t>
            </a:r>
            <a:endParaRPr lang="en-US" sz="2000" dirty="0"/>
          </a:p>
        </p:txBody>
      </p:sp>
      <p:sp>
        <p:nvSpPr>
          <p:cNvPr id="9" name="text-10"/>
          <p:cNvSpPr txBox="1"/>
          <p:nvPr/>
        </p:nvSpPr>
        <p:spPr>
          <a:xfrm>
            <a:off x="6527902" y="25603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mit Hailo-8L (13 TOPS) wertet das Kamerabild aus.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und Optical Flow ersetzen GPS bei der Positionierung.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Steuerbefehle gehen per MAVLink an den Flugregler (ArduPilot).</a:t>
            </a:r>
            <a:endParaRPr lang="en-US" sz="1600" dirty="0"/>
          </a:p>
        </p:txBody>
      </p:sp>
      <p:sp>
        <p:nvSpPr>
          <p:cNvPr id="10" name="text-11"/>
          <p:cNvSpPr txBox="1"/>
          <p:nvPr/>
        </p:nvSpPr>
        <p:spPr>
          <a:xfrm>
            <a:off x="812902" y="4846320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Quadrocopter, der sieht, denkt und fliegt – ohne GPS und ohne externe Infrastruktur.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Ziele</a:t>
            </a:r>
            <a:endParaRPr lang="en-US" sz="3200" dirty="0"/>
          </a:p>
        </p:txBody>
      </p:sp>
      <p:sp>
        <p:nvSpPr>
          <p:cNvPr id="4" name="shape-12"/>
          <p:cNvSpPr/>
          <p:nvPr/>
        </p:nvSpPr>
        <p:spPr>
          <a:xfrm>
            <a:off x="812902" y="1783080"/>
            <a:ext cx="518464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-13"/>
          <p:cNvSpPr txBox="1"/>
          <p:nvPr/>
        </p:nvSpPr>
        <p:spPr>
          <a:xfrm>
            <a:off x="1087222" y="2011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-14"/>
          <p:cNvSpPr txBox="1"/>
          <p:nvPr/>
        </p:nvSpPr>
        <p:spPr>
          <a:xfrm>
            <a:off x="1864462" y="2084832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Autonome Indoor-Navigation</a:t>
            </a:r>
            <a:endParaRPr lang="en-US" sz="1800" dirty="0"/>
          </a:p>
        </p:txBody>
      </p:sp>
      <p:sp>
        <p:nvSpPr>
          <p:cNvPr id="7" name="text-15"/>
          <p:cNvSpPr txBox="1"/>
          <p:nvPr/>
        </p:nvSpPr>
        <p:spPr>
          <a:xfrm>
            <a:off x="1087222" y="2606040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Fliegt selbstständig durch einen Raum, ohne dass der Pilot eingreift.</a:t>
            </a:r>
            <a:endParaRPr lang="en-US" sz="1400" dirty="0"/>
          </a:p>
        </p:txBody>
      </p:sp>
      <p:sp>
        <p:nvSpPr>
          <p:cNvPr id="8" name="shape-16"/>
          <p:cNvSpPr/>
          <p:nvPr/>
        </p:nvSpPr>
        <p:spPr>
          <a:xfrm>
            <a:off x="1087222" y="32004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9EEF6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9" name="text-17"/>
          <p:cNvSpPr txBox="1"/>
          <p:nvPr/>
        </p:nvSpPr>
        <p:spPr>
          <a:xfrm>
            <a:off x="1087222" y="32004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offen</a:t>
            </a:r>
            <a:endParaRPr lang="en-US" sz="1200" dirty="0"/>
          </a:p>
        </p:txBody>
      </p:sp>
      <p:sp>
        <p:nvSpPr>
          <p:cNvPr id="10" name="shape-18"/>
          <p:cNvSpPr/>
          <p:nvPr/>
        </p:nvSpPr>
        <p:spPr>
          <a:xfrm>
            <a:off x="6198718" y="1783080"/>
            <a:ext cx="518464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text-19"/>
          <p:cNvSpPr txBox="1"/>
          <p:nvPr/>
        </p:nvSpPr>
        <p:spPr>
          <a:xfrm>
            <a:off x="6473038" y="2011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-20"/>
          <p:cNvSpPr txBox="1"/>
          <p:nvPr/>
        </p:nvSpPr>
        <p:spPr>
          <a:xfrm>
            <a:off x="7250278" y="2084832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Hinderniserkennung</a:t>
            </a:r>
            <a:endParaRPr lang="en-US" sz="1800" dirty="0"/>
          </a:p>
        </p:txBody>
      </p:sp>
      <p:sp>
        <p:nvSpPr>
          <p:cNvPr id="13" name="text-21"/>
          <p:cNvSpPr txBox="1"/>
          <p:nvPr/>
        </p:nvSpPr>
        <p:spPr>
          <a:xfrm>
            <a:off x="6473038" y="2606040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Hindernisse werden per LiDAR und Kamera in Echtzeit erkannt und umflogen.</a:t>
            </a:r>
            <a:endParaRPr lang="en-US" sz="1400" dirty="0"/>
          </a:p>
        </p:txBody>
      </p:sp>
      <p:sp>
        <p:nvSpPr>
          <p:cNvPr id="14" name="shape-22"/>
          <p:cNvSpPr/>
          <p:nvPr/>
        </p:nvSpPr>
        <p:spPr>
          <a:xfrm>
            <a:off x="6473038" y="32004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9EEF6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5" name="text-23"/>
          <p:cNvSpPr txBox="1"/>
          <p:nvPr/>
        </p:nvSpPr>
        <p:spPr>
          <a:xfrm>
            <a:off x="6473038" y="32004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offen</a:t>
            </a:r>
            <a:endParaRPr lang="en-US" sz="1200" dirty="0"/>
          </a:p>
        </p:txBody>
      </p:sp>
      <p:sp>
        <p:nvSpPr>
          <p:cNvPr id="16" name="shape-24"/>
          <p:cNvSpPr/>
          <p:nvPr/>
        </p:nvSpPr>
        <p:spPr>
          <a:xfrm>
            <a:off x="812902" y="3886200"/>
            <a:ext cx="518464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-25"/>
          <p:cNvSpPr txBox="1"/>
          <p:nvPr/>
        </p:nvSpPr>
        <p:spPr>
          <a:xfrm>
            <a:off x="1087222" y="4114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-26"/>
          <p:cNvSpPr txBox="1"/>
          <p:nvPr/>
        </p:nvSpPr>
        <p:spPr>
          <a:xfrm>
            <a:off x="1864462" y="4187952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Türerkennung &amp; Durchflug</a:t>
            </a:r>
            <a:endParaRPr lang="en-US" sz="1800" dirty="0"/>
          </a:p>
        </p:txBody>
      </p:sp>
      <p:sp>
        <p:nvSpPr>
          <p:cNvPr id="19" name="text-27"/>
          <p:cNvSpPr txBox="1"/>
          <p:nvPr/>
        </p:nvSpPr>
        <p:spPr>
          <a:xfrm>
            <a:off x="1087222" y="4709160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KI-Modell erkennt eine Tür, der Quadrocopter fliegt sicher hindurch.</a:t>
            </a:r>
            <a:endParaRPr lang="en-US" sz="1400" dirty="0"/>
          </a:p>
        </p:txBody>
      </p:sp>
      <p:sp>
        <p:nvSpPr>
          <p:cNvPr id="20" name="shape-28"/>
          <p:cNvSpPr/>
          <p:nvPr/>
        </p:nvSpPr>
        <p:spPr>
          <a:xfrm>
            <a:off x="1087222" y="530352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E3D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1" name="text-29"/>
          <p:cNvSpPr txBox="1"/>
          <p:nvPr/>
        </p:nvSpPr>
        <p:spPr>
          <a:xfrm>
            <a:off x="1087222" y="53035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3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teilweise – Objekterkennung läuft</a:t>
            </a:r>
            <a:endParaRPr lang="en-US" sz="1200" dirty="0"/>
          </a:p>
        </p:txBody>
      </p:sp>
      <p:sp>
        <p:nvSpPr>
          <p:cNvPr id="22" name="shape-30"/>
          <p:cNvSpPr/>
          <p:nvPr/>
        </p:nvSpPr>
        <p:spPr>
          <a:xfrm>
            <a:off x="6198718" y="3886200"/>
            <a:ext cx="518464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3" name="text-31"/>
          <p:cNvSpPr txBox="1"/>
          <p:nvPr/>
        </p:nvSpPr>
        <p:spPr>
          <a:xfrm>
            <a:off x="6473038" y="4114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-32"/>
          <p:cNvSpPr txBox="1"/>
          <p:nvPr/>
        </p:nvSpPr>
        <p:spPr>
          <a:xfrm>
            <a:off x="7250278" y="4187952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GPS-freier Betrieb</a:t>
            </a:r>
            <a:endParaRPr lang="en-US" sz="1800" dirty="0"/>
          </a:p>
        </p:txBody>
      </p:sp>
      <p:sp>
        <p:nvSpPr>
          <p:cNvPr id="25" name="text-33"/>
          <p:cNvSpPr txBox="1"/>
          <p:nvPr/>
        </p:nvSpPr>
        <p:spPr>
          <a:xfrm>
            <a:off x="6473038" y="4709160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Positionsbestimmung über Optical Flow, LiDAR und VIO/SLAM ohne GNSS.</a:t>
            </a:r>
            <a:endParaRPr lang="en-US" sz="1400" dirty="0"/>
          </a:p>
        </p:txBody>
      </p:sp>
      <p:sp>
        <p:nvSpPr>
          <p:cNvPr id="26" name="shape-34"/>
          <p:cNvSpPr/>
          <p:nvPr/>
        </p:nvSpPr>
        <p:spPr>
          <a:xfrm>
            <a:off x="6473038" y="530352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9EEF6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7" name="text-35"/>
          <p:cNvSpPr txBox="1"/>
          <p:nvPr/>
        </p:nvSpPr>
        <p:spPr>
          <a:xfrm>
            <a:off x="6473038" y="53035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offen</a:t>
            </a:r>
            <a:endParaRPr lang="en-US" sz="1200" dirty="0"/>
          </a:p>
        </p:txBody>
      </p:sp>
      <p:sp>
        <p:nvSpPr>
          <p:cNvPr id="28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Nicht-Ziele: Flüge im Freien, Nutzlasten, Serienreife, eigener Flugregler · Vision: Drohnenschwarm (letzte Folie)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macht was</a:t>
            </a:r>
            <a:endParaRPr lang="en-US" sz="3200" dirty="0"/>
          </a:p>
        </p:txBody>
      </p:sp>
      <p:sp>
        <p:nvSpPr>
          <p:cNvPr id="4" name="shape-36"/>
          <p:cNvSpPr/>
          <p:nvPr/>
        </p:nvSpPr>
        <p:spPr>
          <a:xfrm>
            <a:off x="812902" y="1783080"/>
            <a:ext cx="5157216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icon-bg-37"/>
          <p:cNvSpPr/>
          <p:nvPr/>
        </p:nvSpPr>
        <p:spPr>
          <a:xfrm>
            <a:off x="1114654" y="2011680"/>
            <a:ext cx="566928" cy="566928"/>
          </a:xfrm>
          <a:prstGeom prst="ellipse">
            <a:avLst/>
          </a:prstGeom>
          <a:solidFill>
            <a:srgbClr val="DCE8F8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6" name="icon-3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86" y="2153412"/>
            <a:ext cx="283464" cy="283464"/>
          </a:xfrm>
          <a:prstGeom prst="rect">
            <a:avLst/>
          </a:prstGeom>
        </p:spPr>
      </p:pic>
      <p:sp>
        <p:nvSpPr>
          <p:cNvPr id="7" name="text-38"/>
          <p:cNvSpPr txBox="1"/>
          <p:nvPr/>
        </p:nvSpPr>
        <p:spPr>
          <a:xfrm>
            <a:off x="1818742" y="2157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INTEGRATION</a:t>
            </a:r>
            <a:endParaRPr lang="en-US" sz="1200" dirty="0"/>
          </a:p>
        </p:txBody>
      </p:sp>
      <p:sp>
        <p:nvSpPr>
          <p:cNvPr id="8" name="text-39"/>
          <p:cNvSpPr txBox="1"/>
          <p:nvPr/>
        </p:nvSpPr>
        <p:spPr>
          <a:xfrm>
            <a:off x="1114654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Derick Miguel Esguerra</a:t>
            </a:r>
            <a:endParaRPr lang="en-US" sz="2200" dirty="0"/>
          </a:p>
        </p:txBody>
      </p:sp>
      <p:sp>
        <p:nvSpPr>
          <p:cNvPr id="9" name="text-40"/>
          <p:cNvSpPr txBox="1"/>
          <p:nvPr/>
        </p:nvSpPr>
        <p:spPr>
          <a:xfrm>
            <a:off x="1114654" y="3246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 (CAD) und 3D-Druck, Materialtests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Komponentenauswahl, Verdrahtung, Schaltplan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Flugregler-Konfiguration (ArduPilot)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Halterungen, Schwerpunkt, Testflüge</a:t>
            </a:r>
            <a:endParaRPr lang="en-US" sz="1400" dirty="0"/>
          </a:p>
        </p:txBody>
      </p:sp>
      <p:sp>
        <p:nvSpPr>
          <p:cNvPr id="10" name="shape-41"/>
          <p:cNvSpPr/>
          <p:nvPr/>
        </p:nvSpPr>
        <p:spPr>
          <a:xfrm>
            <a:off x="6226150" y="1783080"/>
            <a:ext cx="5157216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icon-bg-42"/>
          <p:cNvSpPr/>
          <p:nvPr/>
        </p:nvSpPr>
        <p:spPr>
          <a:xfrm>
            <a:off x="6527902" y="2011680"/>
            <a:ext cx="566928" cy="566928"/>
          </a:xfrm>
          <a:prstGeom prst="ellipse">
            <a:avLst/>
          </a:prstGeom>
          <a:solidFill>
            <a:srgbClr val="FBE3D2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2" name="icon-4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2153412"/>
            <a:ext cx="283464" cy="283464"/>
          </a:xfrm>
          <a:prstGeom prst="rect">
            <a:avLst/>
          </a:prstGeom>
        </p:spPr>
      </p:pic>
      <p:sp>
        <p:nvSpPr>
          <p:cNvPr id="13" name="text-43"/>
          <p:cNvSpPr txBox="1"/>
          <p:nvPr/>
        </p:nvSpPr>
        <p:spPr>
          <a:xfrm>
            <a:off x="7231990" y="2157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KI</a:t>
            </a:r>
            <a:endParaRPr lang="en-US" sz="1200" dirty="0"/>
          </a:p>
        </p:txBody>
      </p:sp>
      <p:sp>
        <p:nvSpPr>
          <p:cNvPr id="14" name="text-44"/>
          <p:cNvSpPr txBox="1"/>
          <p:nvPr/>
        </p:nvSpPr>
        <p:spPr>
          <a:xfrm>
            <a:off x="6527902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Noah Dallamassl</a:t>
            </a:r>
            <a:endParaRPr lang="en-US" sz="2200" dirty="0"/>
          </a:p>
        </p:txBody>
      </p:sp>
      <p:sp>
        <p:nvSpPr>
          <p:cNvPr id="15" name="text-45"/>
          <p:cNvSpPr txBox="1"/>
          <p:nvPr/>
        </p:nvSpPr>
        <p:spPr>
          <a:xfrm>
            <a:off x="6527902" y="3246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und Hailo-8L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Objekterkennung (KI-Modell)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MAVLink-Anbindung an den Flugregler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GPS-freie Positionierung, Türdurchflug</a:t>
            </a:r>
            <a:endParaRPr lang="en-US" sz="1400" dirty="0"/>
          </a:p>
        </p:txBody>
      </p:sp>
      <p:sp>
        <p:nvSpPr>
          <p:cNvPr id="16" name="shape-46"/>
          <p:cNvSpPr/>
          <p:nvPr/>
        </p:nvSpPr>
        <p:spPr>
          <a:xfrm>
            <a:off x="812902" y="5029200"/>
            <a:ext cx="10566806" cy="731520"/>
          </a:xfrm>
          <a:prstGeom prst="roundRect">
            <a:avLst>
              <a:gd name="adj" fmla="val 15000"/>
            </a:avLst>
          </a:prstGeom>
          <a:solidFill>
            <a:srgbClr val="E9EEF6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7" name="icon-bg-47"/>
          <p:cNvSpPr/>
          <p:nvPr/>
        </p:nvSpPr>
        <p:spPr>
          <a:xfrm>
            <a:off x="1041502" y="512064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8" name="icon-4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662" y="5257800"/>
            <a:ext cx="274320" cy="274320"/>
          </a:xfrm>
          <a:prstGeom prst="rect">
            <a:avLst/>
          </a:prstGeom>
        </p:spPr>
      </p:pic>
      <p:sp>
        <p:nvSpPr>
          <p:cNvPr id="19" name="text-48"/>
          <p:cNvSpPr txBox="1"/>
          <p:nvPr/>
        </p:nvSpPr>
        <p:spPr>
          <a:xfrm>
            <a:off x="1773022" y="5120640"/>
            <a:ext cx="9378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Planung, Integration, Tests, Diplomarbeitsbuch, Defensio · Abstimmung jede Woche in der SPL-Einheit (Donnerstag)</a:t>
            </a:r>
            <a:endParaRPr lang="en-US" sz="1400" dirty="0"/>
          </a:p>
        </p:txBody>
      </p:sp>
      <p:sp>
        <p:nvSpPr>
          <p:cNvPr id="20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Projektleitung: [Name] · Betreuung: [Name]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9"/>
          <p:cNvSpPr txBox="1"/>
          <p:nvPr/>
        </p:nvSpPr>
        <p:spPr>
          <a:xfrm>
            <a:off x="812902" y="713232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AKTUELLER STAND · 22.10.2026</a:t>
            </a:r>
            <a:endParaRPr lang="en-US" sz="1200" dirty="0"/>
          </a:p>
        </p:txBody>
      </p:sp>
      <p:sp>
        <p:nvSpPr>
          <p:cNvPr id="3" name="text-50"/>
          <p:cNvSpPr txBox="1"/>
          <p:nvPr/>
        </p:nvSpPr>
        <p:spPr>
          <a:xfrm>
            <a:off x="812902" y="1143000"/>
            <a:ext cx="1056680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Drohne fliegt –</a:t>
            </a:r>
            <a:endParaRPr lang="en-US" sz="5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 6 Wochen vor Plan</a:t>
            </a:r>
            <a:endParaRPr lang="en-US" sz="5000" dirty="0"/>
          </a:p>
        </p:txBody>
      </p:sp>
      <p:sp>
        <p:nvSpPr>
          <p:cNvPr id="4" name="text-51"/>
          <p:cNvSpPr txBox="1"/>
          <p:nvPr/>
        </p:nvSpPr>
        <p:spPr>
          <a:xfrm>
            <a:off x="812902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Hardware-Teil ist abgeschlossen und der Quadrocopter ist mit einer RC-Fernsteuerung geflogen.</a:t>
            </a:r>
            <a:endParaRPr lang="en-US" sz="1800" dirty="0"/>
          </a:p>
        </p:txBody>
      </p:sp>
      <p:sp>
        <p:nvSpPr>
          <p:cNvPr id="5" name="shape-52"/>
          <p:cNvSpPr/>
          <p:nvPr/>
        </p:nvSpPr>
        <p:spPr>
          <a:xfrm>
            <a:off x="812902" y="4434840"/>
            <a:ext cx="3339389" cy="1325880"/>
          </a:xfrm>
          <a:prstGeom prst="roundRect">
            <a:avLst>
              <a:gd name="adj" fmla="val 6897"/>
            </a:avLst>
          </a:prstGeom>
          <a:solidFill>
            <a:srgbClr val="2A6CCB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6" name="text-53"/>
          <p:cNvSpPr txBox="1"/>
          <p:nvPr/>
        </p:nvSpPr>
        <p:spPr>
          <a:xfrm>
            <a:off x="1041502" y="4590288"/>
            <a:ext cx="2882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(ZP 1)</a:t>
            </a:r>
            <a:endParaRPr lang="en-US" sz="1200" dirty="0"/>
          </a:p>
        </p:txBody>
      </p:sp>
      <p:sp>
        <p:nvSpPr>
          <p:cNvPr id="7" name="text-54"/>
          <p:cNvSpPr txBox="1"/>
          <p:nvPr/>
        </p:nvSpPr>
        <p:spPr>
          <a:xfrm>
            <a:off x="1041502" y="4919472"/>
            <a:ext cx="288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Hardware-Aufbau November bis Dezember</a:t>
            </a:r>
            <a:endParaRPr lang="en-US" sz="1500" dirty="0"/>
          </a:p>
        </p:txBody>
      </p:sp>
      <p:sp>
        <p:nvSpPr>
          <p:cNvPr id="8" name="shape-55"/>
          <p:cNvSpPr/>
          <p:nvPr/>
        </p:nvSpPr>
        <p:spPr>
          <a:xfrm>
            <a:off x="4426610" y="4434840"/>
            <a:ext cx="3339389" cy="1325880"/>
          </a:xfrm>
          <a:prstGeom prst="roundRect">
            <a:avLst>
              <a:gd name="adj" fmla="val 6897"/>
            </a:avLst>
          </a:prstGeom>
          <a:solidFill>
            <a:srgbClr val="2A6CCB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9" name="text-56"/>
          <p:cNvSpPr txBox="1"/>
          <p:nvPr/>
        </p:nvSpPr>
        <p:spPr>
          <a:xfrm>
            <a:off x="4655210" y="4590288"/>
            <a:ext cx="2882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endParaRPr lang="en-US" sz="1200" dirty="0"/>
          </a:p>
        </p:txBody>
      </p:sp>
      <p:sp>
        <p:nvSpPr>
          <p:cNvPr id="10" name="text-57"/>
          <p:cNvSpPr txBox="1"/>
          <p:nvPr/>
        </p:nvSpPr>
        <p:spPr>
          <a:xfrm>
            <a:off x="4655210" y="4919472"/>
            <a:ext cx="288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fertig im Oktober, erster Flug gelungen</a:t>
            </a:r>
            <a:endParaRPr lang="en-US" sz="1500" dirty="0"/>
          </a:p>
        </p:txBody>
      </p:sp>
      <p:sp>
        <p:nvSpPr>
          <p:cNvPr id="11" name="shape-58"/>
          <p:cNvSpPr/>
          <p:nvPr/>
        </p:nvSpPr>
        <p:spPr>
          <a:xfrm>
            <a:off x="8040319" y="4434840"/>
            <a:ext cx="3339389" cy="1325880"/>
          </a:xfrm>
          <a:prstGeom prst="roundRect">
            <a:avLst>
              <a:gd name="adj" fmla="val 6897"/>
            </a:avLst>
          </a:prstGeom>
          <a:solidFill>
            <a:srgbClr val="2A6CCB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2" name="text-59"/>
          <p:cNvSpPr txBox="1"/>
          <p:nvPr/>
        </p:nvSpPr>
        <p:spPr>
          <a:xfrm>
            <a:off x="8268919" y="4590288"/>
            <a:ext cx="2882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</p:txBody>
      </p:sp>
      <p:sp>
        <p:nvSpPr>
          <p:cNvPr id="13" name="text-60"/>
          <p:cNvSpPr txBox="1"/>
          <p:nvPr/>
        </p:nvSpPr>
        <p:spPr>
          <a:xfrm>
            <a:off x="8268919" y="4919472"/>
            <a:ext cx="288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Objekterkennung läuft schon (geplant Jän.–Feb.)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DCE6F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AKTUELLER STAND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erledigt ist, was läuft, was kommt</a:t>
            </a:r>
            <a:endParaRPr lang="en-US" sz="3200" dirty="0"/>
          </a:p>
        </p:txBody>
      </p:sp>
      <p:sp>
        <p:nvSpPr>
          <p:cNvPr id="4" name="shape-61"/>
          <p:cNvSpPr/>
          <p:nvPr/>
        </p:nvSpPr>
        <p:spPr>
          <a:xfrm>
            <a:off x="812902" y="1783080"/>
            <a:ext cx="3339389" cy="4023360"/>
          </a:xfrm>
          <a:prstGeom prst="roundRect">
            <a:avLst>
              <a:gd name="adj" fmla="val 3286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icon-bg-62"/>
          <p:cNvSpPr/>
          <p:nvPr/>
        </p:nvSpPr>
        <p:spPr>
          <a:xfrm>
            <a:off x="1068934" y="1965960"/>
            <a:ext cx="502920" cy="502920"/>
          </a:xfrm>
          <a:prstGeom prst="ellipse">
            <a:avLst/>
          </a:prstGeom>
          <a:solidFill>
            <a:srgbClr val="DCE8F8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6" name="icon-6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64" y="2091690"/>
            <a:ext cx="251460" cy="251460"/>
          </a:xfrm>
          <a:prstGeom prst="rect">
            <a:avLst/>
          </a:prstGeom>
        </p:spPr>
      </p:pic>
      <p:sp>
        <p:nvSpPr>
          <p:cNvPr id="7" name="text-63"/>
          <p:cNvSpPr txBox="1"/>
          <p:nvPr/>
        </p:nvSpPr>
        <p:spPr>
          <a:xfrm>
            <a:off x="1709014" y="2093976"/>
            <a:ext cx="2242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ERLEDIGT</a:t>
            </a:r>
            <a:endParaRPr lang="en-US" sz="1300" dirty="0"/>
          </a:p>
        </p:txBody>
      </p:sp>
      <p:sp>
        <p:nvSpPr>
          <p:cNvPr id="8" name="text-64"/>
          <p:cNvSpPr txBox="1"/>
          <p:nvPr/>
        </p:nvSpPr>
        <p:spPr>
          <a:xfrm>
            <a:off x="1068934" y="2697480"/>
            <a:ext cx="282732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 und Komponentenauswahl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Schaltplan AQS-E-001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1 aufgebaut und verdrahtet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Erstflug mit RC-Fernsteuerung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und Hailo-8L in Betrieb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Objekterkennung mit Bounding Boxes</a:t>
            </a:r>
            <a:endParaRPr lang="en-US" sz="1400" dirty="0"/>
          </a:p>
        </p:txBody>
      </p:sp>
      <p:sp>
        <p:nvSpPr>
          <p:cNvPr id="9" name="shape-65"/>
          <p:cNvSpPr/>
          <p:nvPr/>
        </p:nvSpPr>
        <p:spPr>
          <a:xfrm>
            <a:off x="4426610" y="1783080"/>
            <a:ext cx="3339389" cy="4023360"/>
          </a:xfrm>
          <a:prstGeom prst="roundRect">
            <a:avLst>
              <a:gd name="adj" fmla="val 3286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icon-bg-66"/>
          <p:cNvSpPr/>
          <p:nvPr/>
        </p:nvSpPr>
        <p:spPr>
          <a:xfrm>
            <a:off x="4682642" y="1965960"/>
            <a:ext cx="502920" cy="502920"/>
          </a:xfrm>
          <a:prstGeom prst="ellipse">
            <a:avLst/>
          </a:prstGeom>
          <a:solidFill>
            <a:srgbClr val="FBE3D2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1" name="icon-6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372" y="2091690"/>
            <a:ext cx="251460" cy="251460"/>
          </a:xfrm>
          <a:prstGeom prst="rect">
            <a:avLst/>
          </a:prstGeom>
        </p:spPr>
      </p:pic>
      <p:sp>
        <p:nvSpPr>
          <p:cNvPr id="12" name="text-67"/>
          <p:cNvSpPr txBox="1"/>
          <p:nvPr/>
        </p:nvSpPr>
        <p:spPr>
          <a:xfrm>
            <a:off x="5322722" y="2093976"/>
            <a:ext cx="2242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ARBEIT</a:t>
            </a:r>
            <a:endParaRPr lang="en-US" sz="1300" dirty="0"/>
          </a:p>
        </p:txBody>
      </p:sp>
      <p:sp>
        <p:nvSpPr>
          <p:cNvPr id="13" name="text-68"/>
          <p:cNvSpPr txBox="1"/>
          <p:nvPr/>
        </p:nvSpPr>
        <p:spPr>
          <a:xfrm>
            <a:off x="4682642" y="2697480"/>
            <a:ext cx="282732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 aus PC-Nylon (Prototyp 2)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Halterung für jedes Bauteil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Schwerpunkt optimieren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Diplomarbeitsbuch</a:t>
            </a:r>
            <a:endParaRPr lang="en-US" sz="1400" dirty="0"/>
          </a:p>
        </p:txBody>
      </p:sp>
      <p:sp>
        <p:nvSpPr>
          <p:cNvPr id="14" name="shape-69"/>
          <p:cNvSpPr/>
          <p:nvPr/>
        </p:nvSpPr>
        <p:spPr>
          <a:xfrm>
            <a:off x="8040319" y="1783080"/>
            <a:ext cx="3339389" cy="4023360"/>
          </a:xfrm>
          <a:prstGeom prst="roundRect">
            <a:avLst>
              <a:gd name="adj" fmla="val 3286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5" name="icon-bg-70"/>
          <p:cNvSpPr/>
          <p:nvPr/>
        </p:nvSpPr>
        <p:spPr>
          <a:xfrm>
            <a:off x="8296351" y="1965960"/>
            <a:ext cx="502920" cy="502920"/>
          </a:xfrm>
          <a:prstGeom prst="ellipse">
            <a:avLst/>
          </a:prstGeom>
          <a:solidFill>
            <a:srgbClr val="E9EEF6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6" name="icon-7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081" y="2091690"/>
            <a:ext cx="251460" cy="251460"/>
          </a:xfrm>
          <a:prstGeom prst="rect">
            <a:avLst/>
          </a:prstGeom>
        </p:spPr>
      </p:pic>
      <p:sp>
        <p:nvSpPr>
          <p:cNvPr id="17" name="text-71"/>
          <p:cNvSpPr txBox="1"/>
          <p:nvPr/>
        </p:nvSpPr>
        <p:spPr>
          <a:xfrm>
            <a:off x="8936431" y="2093976"/>
            <a:ext cx="2242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300" dirty="0"/>
          </a:p>
        </p:txBody>
      </p:sp>
      <p:sp>
        <p:nvSpPr>
          <p:cNvPr id="18" name="text-72"/>
          <p:cNvSpPr txBox="1"/>
          <p:nvPr/>
        </p:nvSpPr>
        <p:spPr>
          <a:xfrm>
            <a:off x="8296351" y="2697480"/>
            <a:ext cx="282732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steuert Flugregler über MAVLink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Schwebeflug ohne GPS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Hindernis- und Türerkennung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 Testflüge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AKTUELLER STAND · HARDWARE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 1: aufgebaut und geflogen</a:t>
            </a:r>
            <a:endParaRPr lang="en-US" sz="3200" dirty="0"/>
          </a:p>
        </p:txBody>
      </p:sp>
      <p:pic>
        <p:nvPicPr>
          <p:cNvPr id="4" name="photo-1" descr="Prototyp 1 von schräg vorne mit XT60-Anschluss und Flugregler-Sta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902" y="1737360"/>
            <a:ext cx="2651760" cy="4023360"/>
          </a:xfrm>
          <a:prstGeom prst="rect">
            <a:avLst/>
          </a:prstGeom>
        </p:spPr>
      </p:pic>
      <p:pic>
        <p:nvPicPr>
          <p:cNvPr id="5" name="photo-2" descr="Prototyp 1 von oben mit Flugregler, ESC und ELRS-Empfänge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01822" y="1737360"/>
            <a:ext cx="2651760" cy="4023360"/>
          </a:xfrm>
          <a:prstGeom prst="rect">
            <a:avLst/>
          </a:prstGeom>
        </p:spPr>
      </p:pic>
      <p:sp>
        <p:nvSpPr>
          <p:cNvPr id="6" name="text-73"/>
          <p:cNvSpPr txBox="1"/>
          <p:nvPr/>
        </p:nvSpPr>
        <p:spPr>
          <a:xfrm>
            <a:off x="66294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</a:t>
            </a:r>
            <a:endParaRPr lang="en-US" sz="1200" dirty="0"/>
          </a:p>
        </p:txBody>
      </p:sp>
      <p:sp>
        <p:nvSpPr>
          <p:cNvPr id="7" name="text-74"/>
          <p:cNvSpPr txBox="1"/>
          <p:nvPr/>
        </p:nvSpPr>
        <p:spPr>
          <a:xfrm>
            <a:off x="6629400" y="21031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SpeedyBee F405 V5 mit 4-in-1-ESC (55 A), EMAX ECO II 2807 Motoren, 7-Zoll-Propeller, 4S-LiPo 3300 mAh</a:t>
            </a:r>
            <a:endParaRPr lang="en-US" sz="1500" dirty="0"/>
          </a:p>
        </p:txBody>
      </p:sp>
      <p:sp>
        <p:nvSpPr>
          <p:cNvPr id="8" name="text-75"/>
          <p:cNvSpPr txBox="1"/>
          <p:nvPr/>
        </p:nvSpPr>
        <p:spPr>
          <a:xfrm>
            <a:off x="6629400" y="3108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en-US" sz="1200" dirty="0"/>
          </a:p>
        </p:txBody>
      </p:sp>
      <p:sp>
        <p:nvSpPr>
          <p:cNvPr id="9" name="text-76"/>
          <p:cNvSpPr txBox="1"/>
          <p:nvPr/>
        </p:nvSpPr>
        <p:spPr>
          <a:xfrm>
            <a:off x="6629400" y="34290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ArduPilot 4.5 auf dem Flugregler, Empfänger RadioMaster RP1 (ExpressLRS 2,4 GHz)</a:t>
            </a:r>
            <a:endParaRPr lang="en-US" sz="1500" dirty="0"/>
          </a:p>
        </p:txBody>
      </p:sp>
      <p:sp>
        <p:nvSpPr>
          <p:cNvPr id="10" name="text-77"/>
          <p:cNvSpPr txBox="1"/>
          <p:nvPr/>
        </p:nvSpPr>
        <p:spPr>
          <a:xfrm>
            <a:off x="662940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FLUG</a:t>
            </a:r>
            <a:endParaRPr lang="en-US" sz="1200" dirty="0"/>
          </a:p>
        </p:txBody>
      </p:sp>
      <p:sp>
        <p:nvSpPr>
          <p:cNvPr id="11" name="text-78"/>
          <p:cNvSpPr txBox="1"/>
          <p:nvPr/>
        </p:nvSpPr>
        <p:spPr>
          <a:xfrm>
            <a:off x="6629400" y="4754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einer handelsüblichen RC-Fernsteuerung – so haben wir die Hardware geprüft, bevor die autonome Software dazukommt.</a:t>
            </a:r>
            <a:endParaRPr lang="en-US" sz="1500" dirty="0"/>
          </a:p>
        </p:txBody>
      </p:sp>
      <p:sp>
        <p:nvSpPr>
          <p:cNvPr id="12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des Erstflugs auf der nächsten Folie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457200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FB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AKTUELLER STAND · VIDEO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66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Erstflug mit RC-Fernsteuerung</a:t>
            </a:r>
            <a:endParaRPr lang="en-US" sz="2800" dirty="0"/>
          </a:p>
        </p:txBody>
      </p:sp>
      <p:pic>
        <p:nvPicPr>
          <p:cNvPr id="4" name="IMG_7760_46A964B6-0A01-4FD1-8112-7DCB2BFEBF00.mp4">
            <a:hlinkClick r:id="" action="ppaction://media"/>
            <a:extLst>
              <a:ext uri="{FF2B5EF4-FFF2-40B4-BE49-F238E27FC236}">
                <a16:creationId xmlns:a16="http://schemas.microsoft.com/office/drawing/2014/main" id="{A8B1EC9F-3618-9A0F-D1DE-71FEFA3E59FF}"/>
              </a:ext>
            </a:extLst>
          </p:cNvPr>
          <p:cNvPicPr>
            <a:picLocks noGrp="1" noChangeAspect="1"/>
          </p:cNvPicPr>
          <p:nvPr>
            <p:ph type="media" idx="102" hasCustomPrompt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41360" y="0"/>
            <a:ext cx="3850640" cy="6845842"/>
          </a:xfr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A9B8C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2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GING SCHIEF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Testdruck zum richtigen Material</a:t>
            </a:r>
            <a:endParaRPr lang="en-US" sz="3200" dirty="0"/>
          </a:p>
        </p:txBody>
      </p:sp>
      <p:sp>
        <p:nvSpPr>
          <p:cNvPr id="4" name="shape-79"/>
          <p:cNvSpPr/>
          <p:nvPr/>
        </p:nvSpPr>
        <p:spPr>
          <a:xfrm>
            <a:off x="812902" y="1783080"/>
            <a:ext cx="3186989" cy="3246120"/>
          </a:xfrm>
          <a:prstGeom prst="roundRect">
            <a:avLst>
              <a:gd name="adj" fmla="val 3443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icon-bg-80"/>
          <p:cNvSpPr/>
          <p:nvPr/>
        </p:nvSpPr>
        <p:spPr>
          <a:xfrm>
            <a:off x="1068934" y="1993392"/>
            <a:ext cx="548640" cy="548640"/>
          </a:xfrm>
          <a:prstGeom prst="ellipse">
            <a:avLst/>
          </a:prstGeom>
          <a:solidFill>
            <a:srgbClr val="F4DEDE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6" name="icon-8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094" y="2130552"/>
            <a:ext cx="274320" cy="274320"/>
          </a:xfrm>
          <a:prstGeom prst="rect">
            <a:avLst/>
          </a:prstGeom>
        </p:spPr>
      </p:pic>
      <p:sp>
        <p:nvSpPr>
          <p:cNvPr id="7" name="text-81"/>
          <p:cNvSpPr txBox="1"/>
          <p:nvPr/>
        </p:nvSpPr>
        <p:spPr>
          <a:xfrm>
            <a:off x="1745590" y="1975104"/>
            <a:ext cx="2089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</a:t>
            </a:r>
            <a:endParaRPr lang="en-US" sz="2000" dirty="0"/>
          </a:p>
        </p:txBody>
      </p:sp>
      <p:sp>
        <p:nvSpPr>
          <p:cNvPr id="8" name="text-82"/>
          <p:cNvSpPr txBox="1"/>
          <p:nvPr/>
        </p:nvSpPr>
        <p:spPr>
          <a:xfrm>
            <a:off x="1745590" y="2331720"/>
            <a:ext cx="2089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Testdruck</a:t>
            </a:r>
            <a:endParaRPr lang="en-US" sz="1300" dirty="0"/>
          </a:p>
        </p:txBody>
      </p:sp>
      <p:sp>
        <p:nvSpPr>
          <p:cNvPr id="9" name="text-83"/>
          <p:cNvSpPr txBox="1"/>
          <p:nvPr/>
        </p:nvSpPr>
        <p:spPr>
          <a:xfrm>
            <a:off x="1068934" y="2788920"/>
            <a:ext cx="2674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0" name="text-84"/>
          <p:cNvSpPr txBox="1"/>
          <p:nvPr/>
        </p:nvSpPr>
        <p:spPr>
          <a:xfrm>
            <a:off x="1068934" y="3108960"/>
            <a:ext cx="267492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[Was beim ABS-Testdruck schiefging, eintragen]</a:t>
            </a:r>
            <a:endParaRPr lang="en-US" sz="1400" dirty="0"/>
          </a:p>
        </p:txBody>
      </p:sp>
      <p:sp>
        <p:nvSpPr>
          <p:cNvPr id="11" name="shape-85"/>
          <p:cNvSpPr/>
          <p:nvPr/>
        </p:nvSpPr>
        <p:spPr>
          <a:xfrm>
            <a:off x="1068934" y="45262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DEDE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2" name="text-86"/>
          <p:cNvSpPr txBox="1"/>
          <p:nvPr/>
        </p:nvSpPr>
        <p:spPr>
          <a:xfrm>
            <a:off x="1068934" y="4526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verworfen</a:t>
            </a:r>
            <a:endParaRPr lang="en-US" sz="1200" dirty="0"/>
          </a:p>
        </p:txBody>
      </p:sp>
      <p:sp>
        <p:nvSpPr>
          <p:cNvPr id="13" name="mat-arrow-0"/>
          <p:cNvSpPr/>
          <p:nvPr/>
        </p:nvSpPr>
        <p:spPr>
          <a:xfrm>
            <a:off x="4109618" y="3246120"/>
            <a:ext cx="283464" cy="274320"/>
          </a:xfrm>
          <a:prstGeom prst="rightArrow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4" name="shape-87"/>
          <p:cNvSpPr/>
          <p:nvPr/>
        </p:nvSpPr>
        <p:spPr>
          <a:xfrm>
            <a:off x="4502810" y="1783080"/>
            <a:ext cx="3186989" cy="3246120"/>
          </a:xfrm>
          <a:prstGeom prst="roundRect">
            <a:avLst>
              <a:gd name="adj" fmla="val 3443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5" name="icon-bg-88"/>
          <p:cNvSpPr/>
          <p:nvPr/>
        </p:nvSpPr>
        <p:spPr>
          <a:xfrm>
            <a:off x="4758842" y="1993392"/>
            <a:ext cx="548640" cy="548640"/>
          </a:xfrm>
          <a:prstGeom prst="ellipse">
            <a:avLst/>
          </a:prstGeom>
          <a:solidFill>
            <a:srgbClr val="F4DEDE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6" name="icon-8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002" y="2130552"/>
            <a:ext cx="274320" cy="274320"/>
          </a:xfrm>
          <a:prstGeom prst="rect">
            <a:avLst/>
          </a:prstGeom>
        </p:spPr>
      </p:pic>
      <p:sp>
        <p:nvSpPr>
          <p:cNvPr id="17" name="text-89"/>
          <p:cNvSpPr txBox="1"/>
          <p:nvPr/>
        </p:nvSpPr>
        <p:spPr>
          <a:xfrm>
            <a:off x="5435498" y="1975104"/>
            <a:ext cx="2089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</a:t>
            </a:r>
            <a:endParaRPr lang="en-US" sz="2000" dirty="0"/>
          </a:p>
        </p:txBody>
      </p:sp>
      <p:sp>
        <p:nvSpPr>
          <p:cNvPr id="18" name="text-90"/>
          <p:cNvSpPr txBox="1"/>
          <p:nvPr/>
        </p:nvSpPr>
        <p:spPr>
          <a:xfrm>
            <a:off x="5435498" y="2331720"/>
            <a:ext cx="2089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1</a:t>
            </a:r>
            <a:endParaRPr lang="en-US" sz="1300" dirty="0"/>
          </a:p>
        </p:txBody>
      </p:sp>
      <p:sp>
        <p:nvSpPr>
          <p:cNvPr id="19" name="text-91"/>
          <p:cNvSpPr txBox="1"/>
          <p:nvPr/>
        </p:nvSpPr>
        <p:spPr>
          <a:xfrm>
            <a:off x="4758842" y="2788920"/>
            <a:ext cx="2674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20" name="text-92"/>
          <p:cNvSpPr txBox="1"/>
          <p:nvPr/>
        </p:nvSpPr>
        <p:spPr>
          <a:xfrm>
            <a:off x="4758842" y="3108960"/>
            <a:ext cx="267492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Arme vibrieren zu stark. Die Schwingungen stören die Sensoren im Flugregler – der Flug ist nicht stabil.</a:t>
            </a:r>
            <a:endParaRPr lang="en-US" sz="1400" dirty="0"/>
          </a:p>
        </p:txBody>
      </p:sp>
      <p:sp>
        <p:nvSpPr>
          <p:cNvPr id="21" name="shape-93"/>
          <p:cNvSpPr/>
          <p:nvPr/>
        </p:nvSpPr>
        <p:spPr>
          <a:xfrm>
            <a:off x="4758842" y="45262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DEDE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2" name="text-94"/>
          <p:cNvSpPr txBox="1"/>
          <p:nvPr/>
        </p:nvSpPr>
        <p:spPr>
          <a:xfrm>
            <a:off x="4758842" y="4526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verworfen</a:t>
            </a:r>
            <a:endParaRPr lang="en-US" sz="1200" dirty="0"/>
          </a:p>
        </p:txBody>
      </p:sp>
      <p:sp>
        <p:nvSpPr>
          <p:cNvPr id="23" name="mat-arrow-1"/>
          <p:cNvSpPr/>
          <p:nvPr/>
        </p:nvSpPr>
        <p:spPr>
          <a:xfrm>
            <a:off x="7799527" y="3246120"/>
            <a:ext cx="283464" cy="274320"/>
          </a:xfrm>
          <a:prstGeom prst="rightArrow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4" name="shape-95"/>
          <p:cNvSpPr/>
          <p:nvPr/>
        </p:nvSpPr>
        <p:spPr>
          <a:xfrm>
            <a:off x="8192719" y="1783080"/>
            <a:ext cx="3186989" cy="3246120"/>
          </a:xfrm>
          <a:prstGeom prst="roundRect">
            <a:avLst>
              <a:gd name="adj" fmla="val 3443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5" name="icon-bg-96"/>
          <p:cNvSpPr/>
          <p:nvPr/>
        </p:nvSpPr>
        <p:spPr>
          <a:xfrm>
            <a:off x="8448751" y="1993392"/>
            <a:ext cx="548640" cy="548640"/>
          </a:xfrm>
          <a:prstGeom prst="ellipse">
            <a:avLst/>
          </a:prstGeom>
          <a:solidFill>
            <a:srgbClr val="E2EFDA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26" name="icon-9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911" y="2130552"/>
            <a:ext cx="274320" cy="274320"/>
          </a:xfrm>
          <a:prstGeom prst="rect">
            <a:avLst/>
          </a:prstGeom>
        </p:spPr>
      </p:pic>
      <p:sp>
        <p:nvSpPr>
          <p:cNvPr id="27" name="text-97"/>
          <p:cNvSpPr txBox="1"/>
          <p:nvPr/>
        </p:nvSpPr>
        <p:spPr>
          <a:xfrm>
            <a:off x="9125407" y="1975104"/>
            <a:ext cx="2089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PC-Nylon</a:t>
            </a:r>
            <a:endParaRPr lang="en-US" sz="2000" dirty="0"/>
          </a:p>
        </p:txBody>
      </p:sp>
      <p:sp>
        <p:nvSpPr>
          <p:cNvPr id="28" name="text-98"/>
          <p:cNvSpPr txBox="1"/>
          <p:nvPr/>
        </p:nvSpPr>
        <p:spPr>
          <a:xfrm>
            <a:off x="9125407" y="2331720"/>
            <a:ext cx="2089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2</a:t>
            </a:r>
            <a:endParaRPr lang="en-US" sz="1300" dirty="0"/>
          </a:p>
        </p:txBody>
      </p:sp>
      <p:sp>
        <p:nvSpPr>
          <p:cNvPr id="29" name="text-99"/>
          <p:cNvSpPr txBox="1"/>
          <p:nvPr/>
        </p:nvSpPr>
        <p:spPr>
          <a:xfrm>
            <a:off x="8448751" y="2788920"/>
            <a:ext cx="2674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200" dirty="0"/>
          </a:p>
        </p:txBody>
      </p:sp>
      <p:sp>
        <p:nvSpPr>
          <p:cNvPr id="30" name="text-100"/>
          <p:cNvSpPr txBox="1"/>
          <p:nvPr/>
        </p:nvSpPr>
        <p:spPr>
          <a:xfrm>
            <a:off x="8448751" y="3108960"/>
            <a:ext cx="267492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Zäher und steifer, dämpft Schwingungen besser. Dafür haben wir eine nylontaugliche Düse angeschafft.</a:t>
            </a:r>
            <a:endParaRPr lang="en-US" sz="1400" dirty="0"/>
          </a:p>
        </p:txBody>
      </p:sp>
      <p:sp>
        <p:nvSpPr>
          <p:cNvPr id="31" name="shape-101"/>
          <p:cNvSpPr/>
          <p:nvPr/>
        </p:nvSpPr>
        <p:spPr>
          <a:xfrm>
            <a:off x="8448751" y="45262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2EFDA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32" name="text-102"/>
          <p:cNvSpPr txBox="1"/>
          <p:nvPr/>
        </p:nvSpPr>
        <p:spPr>
          <a:xfrm>
            <a:off x="8448751" y="4526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Einsatz</a:t>
            </a:r>
            <a:endParaRPr lang="en-US" sz="1200" dirty="0"/>
          </a:p>
        </p:txBody>
      </p:sp>
      <p:sp>
        <p:nvSpPr>
          <p:cNvPr id="33" name="shape-103"/>
          <p:cNvSpPr/>
          <p:nvPr/>
        </p:nvSpPr>
        <p:spPr>
          <a:xfrm>
            <a:off x="812902" y="5257800"/>
            <a:ext cx="10566806" cy="594360"/>
          </a:xfrm>
          <a:prstGeom prst="roundRect">
            <a:avLst>
              <a:gd name="adj" fmla="val 18462"/>
            </a:avLst>
          </a:prstGeom>
          <a:solidFill>
            <a:srgbClr val="E9EEF6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34" name="text-104"/>
          <p:cNvSpPr txBox="1"/>
          <p:nvPr/>
        </p:nvSpPr>
        <p:spPr>
          <a:xfrm>
            <a:off x="1087222" y="5257800"/>
            <a:ext cx="100181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Learned: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Werkstoffe testen, bevor die ganze Drohne aufgebaut wird – Schwingungen zeigen sich erst im Flug.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 ARBEIT · HARDWARE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 2: Schwerpunkt in der Mitte</a:t>
            </a:r>
            <a:endParaRPr lang="en-US" sz="3200" dirty="0"/>
          </a:p>
        </p:txBody>
      </p:sp>
      <p:sp>
        <p:nvSpPr>
          <p:cNvPr id="4" name="text-105"/>
          <p:cNvSpPr txBox="1"/>
          <p:nvPr/>
        </p:nvSpPr>
        <p:spPr>
          <a:xfrm>
            <a:off x="812902" y="1691640"/>
            <a:ext cx="105668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jedes Bauteil entsteht eine eigene Halterung aus PC-Nylon: Raspberry Pi mit Hailo-Modul, LiDAR, Kamera, Akku, Antenne und Optical-Flow-Sensor.</a:t>
            </a:r>
            <a:endParaRPr lang="en-US" sz="1600" dirty="0"/>
          </a:p>
        </p:txBody>
      </p:sp>
      <p:sp>
        <p:nvSpPr>
          <p:cNvPr id="5" name="shape-106"/>
          <p:cNvSpPr/>
          <p:nvPr/>
        </p:nvSpPr>
        <p:spPr>
          <a:xfrm>
            <a:off x="812902" y="2514600"/>
            <a:ext cx="5146243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icon-bg-107"/>
          <p:cNvSpPr/>
          <p:nvPr/>
        </p:nvSpPr>
        <p:spPr>
          <a:xfrm>
            <a:off x="1068934" y="2743200"/>
            <a:ext cx="548640" cy="548640"/>
          </a:xfrm>
          <a:prstGeom prst="ellipse">
            <a:avLst/>
          </a:prstGeom>
          <a:solidFill>
            <a:srgbClr val="DCE8F8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7" name="icon-10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094" y="2880360"/>
            <a:ext cx="274320" cy="274320"/>
          </a:xfrm>
          <a:prstGeom prst="rect">
            <a:avLst/>
          </a:prstGeom>
        </p:spPr>
      </p:pic>
      <p:sp>
        <p:nvSpPr>
          <p:cNvPr id="8" name="text-108"/>
          <p:cNvSpPr txBox="1"/>
          <p:nvPr/>
        </p:nvSpPr>
        <p:spPr>
          <a:xfrm>
            <a:off x="1818742" y="2770632"/>
            <a:ext cx="3911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Schwerpunkt</a:t>
            </a:r>
            <a:endParaRPr lang="en-US" sz="1600" dirty="0"/>
          </a:p>
        </p:txBody>
      </p:sp>
      <p:sp>
        <p:nvSpPr>
          <p:cNvPr id="9" name="text-109"/>
          <p:cNvSpPr txBox="1"/>
          <p:nvPr/>
        </p:nvSpPr>
        <p:spPr>
          <a:xfrm>
            <a:off x="1818742" y="3154680"/>
            <a:ext cx="39118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Liegt er nicht in der Mitte, muss ein Motor dauerhaft mehr leisten – kürzere Flugzeit, schlechtere Regelung.</a:t>
            </a:r>
            <a:endParaRPr lang="en-US" sz="1300" dirty="0"/>
          </a:p>
        </p:txBody>
      </p:sp>
      <p:sp>
        <p:nvSpPr>
          <p:cNvPr id="10" name="shape-110"/>
          <p:cNvSpPr/>
          <p:nvPr/>
        </p:nvSpPr>
        <p:spPr>
          <a:xfrm>
            <a:off x="6233465" y="2514600"/>
            <a:ext cx="5146243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icon-bg-111"/>
          <p:cNvSpPr/>
          <p:nvPr/>
        </p:nvSpPr>
        <p:spPr>
          <a:xfrm>
            <a:off x="6489497" y="2743200"/>
            <a:ext cx="548640" cy="548640"/>
          </a:xfrm>
          <a:prstGeom prst="ellipse">
            <a:avLst/>
          </a:prstGeom>
          <a:solidFill>
            <a:srgbClr val="DCE8F8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2" name="icon-1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657" y="2880360"/>
            <a:ext cx="274320" cy="274320"/>
          </a:xfrm>
          <a:prstGeom prst="rect">
            <a:avLst/>
          </a:prstGeom>
        </p:spPr>
      </p:pic>
      <p:sp>
        <p:nvSpPr>
          <p:cNvPr id="13" name="text-112"/>
          <p:cNvSpPr txBox="1"/>
          <p:nvPr/>
        </p:nvSpPr>
        <p:spPr>
          <a:xfrm>
            <a:off x="7239305" y="2770632"/>
            <a:ext cx="3911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Vibrationen</a:t>
            </a:r>
            <a:endParaRPr lang="en-US" sz="1600" dirty="0"/>
          </a:p>
        </p:txBody>
      </p:sp>
      <p:sp>
        <p:nvSpPr>
          <p:cNvPr id="14" name="text-113"/>
          <p:cNvSpPr txBox="1"/>
          <p:nvPr/>
        </p:nvSpPr>
        <p:spPr>
          <a:xfrm>
            <a:off x="7239305" y="3154680"/>
            <a:ext cx="39118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Flugregler und Kamera werden entkoppelt montiert, damit Sensorwerte und Bild sauber bleiben.</a:t>
            </a:r>
            <a:endParaRPr lang="en-US" sz="1300" dirty="0"/>
          </a:p>
        </p:txBody>
      </p:sp>
      <p:sp>
        <p:nvSpPr>
          <p:cNvPr id="15" name="shape-114"/>
          <p:cNvSpPr/>
          <p:nvPr/>
        </p:nvSpPr>
        <p:spPr>
          <a:xfrm>
            <a:off x="812902" y="4206240"/>
            <a:ext cx="5146243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6" name="icon-bg-115"/>
          <p:cNvSpPr/>
          <p:nvPr/>
        </p:nvSpPr>
        <p:spPr>
          <a:xfrm>
            <a:off x="1068934" y="4434840"/>
            <a:ext cx="548640" cy="548640"/>
          </a:xfrm>
          <a:prstGeom prst="ellipse">
            <a:avLst/>
          </a:prstGeom>
          <a:solidFill>
            <a:srgbClr val="DCE8F8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7" name="icon-1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094" y="4572000"/>
            <a:ext cx="274320" cy="274320"/>
          </a:xfrm>
          <a:prstGeom prst="rect">
            <a:avLst/>
          </a:prstGeom>
        </p:spPr>
      </p:pic>
      <p:sp>
        <p:nvSpPr>
          <p:cNvPr id="18" name="text-116"/>
          <p:cNvSpPr txBox="1"/>
          <p:nvPr/>
        </p:nvSpPr>
        <p:spPr>
          <a:xfrm>
            <a:off x="1818742" y="4462272"/>
            <a:ext cx="3911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Freie Sicht</a:t>
            </a:r>
            <a:endParaRPr lang="en-US" sz="1600" dirty="0"/>
          </a:p>
        </p:txBody>
      </p:sp>
      <p:sp>
        <p:nvSpPr>
          <p:cNvPr id="19" name="text-117"/>
          <p:cNvSpPr txBox="1"/>
          <p:nvPr/>
        </p:nvSpPr>
        <p:spPr>
          <a:xfrm>
            <a:off x="1818742" y="4846320"/>
            <a:ext cx="39118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braucht Sicht nach unten, LiDAR 360° rundum, die Kamera nach vorne.</a:t>
            </a:r>
            <a:endParaRPr lang="en-US" sz="1300" dirty="0"/>
          </a:p>
        </p:txBody>
      </p:sp>
      <p:sp>
        <p:nvSpPr>
          <p:cNvPr id="20" name="shape-118"/>
          <p:cNvSpPr/>
          <p:nvPr/>
        </p:nvSpPr>
        <p:spPr>
          <a:xfrm>
            <a:off x="6233465" y="4206240"/>
            <a:ext cx="5146243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icon-bg-119"/>
          <p:cNvSpPr/>
          <p:nvPr/>
        </p:nvSpPr>
        <p:spPr>
          <a:xfrm>
            <a:off x="6489497" y="4434840"/>
            <a:ext cx="548640" cy="548640"/>
          </a:xfrm>
          <a:prstGeom prst="ellipse">
            <a:avLst/>
          </a:prstGeom>
          <a:solidFill>
            <a:srgbClr val="DCE8F8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22" name="icon-1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657" y="4572000"/>
            <a:ext cx="274320" cy="274320"/>
          </a:xfrm>
          <a:prstGeom prst="rect">
            <a:avLst/>
          </a:prstGeom>
        </p:spPr>
      </p:pic>
      <p:sp>
        <p:nvSpPr>
          <p:cNvPr id="23" name="text-120"/>
          <p:cNvSpPr txBox="1"/>
          <p:nvPr/>
        </p:nvSpPr>
        <p:spPr>
          <a:xfrm>
            <a:off x="7239305" y="4462272"/>
            <a:ext cx="3911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Bauraum</a:t>
            </a:r>
            <a:endParaRPr lang="en-US" sz="1600" dirty="0"/>
          </a:p>
        </p:txBody>
      </p:sp>
      <p:sp>
        <p:nvSpPr>
          <p:cNvPr id="24" name="text-121"/>
          <p:cNvSpPr txBox="1"/>
          <p:nvPr/>
        </p:nvSpPr>
        <p:spPr>
          <a:xfrm>
            <a:off x="7239305" y="4846320"/>
            <a:ext cx="39118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Teile müssen auf den Bambu-Drucker passen (180 mm), große Teile kommen auf den Raise3D.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 ARBEIT · SOFTWARE &amp; KI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Objekterkennung auf dem Hailo-8L</a:t>
            </a:r>
            <a:endParaRPr lang="en-US" sz="3200" dirty="0"/>
          </a:p>
        </p:txBody>
      </p:sp>
      <p:sp>
        <p:nvSpPr>
          <p:cNvPr id="4" name="text-122"/>
          <p:cNvSpPr txBox="1"/>
          <p:nvPr/>
        </p:nvSpPr>
        <p:spPr>
          <a:xfrm>
            <a:off x="635508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LÄUFT</a:t>
            </a:r>
            <a:endParaRPr lang="en-US" sz="1200" dirty="0"/>
          </a:p>
        </p:txBody>
      </p:sp>
      <p:sp>
        <p:nvSpPr>
          <p:cNvPr id="5" name="text-123"/>
          <p:cNvSpPr txBox="1"/>
          <p:nvPr/>
        </p:nvSpPr>
        <p:spPr>
          <a:xfrm>
            <a:off x="6355080" y="20848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Software erkennt und verfolgt Objekte im Kamerabild – ähnlich wie YOLO – und markiert sie mit einem Rahmen (Bounding Box).</a:t>
            </a:r>
            <a:endParaRPr lang="en-US" sz="1400" dirty="0"/>
          </a:p>
        </p:txBody>
      </p:sp>
      <p:sp>
        <p:nvSpPr>
          <p:cNvPr id="6" name="text-124"/>
          <p:cNvSpPr txBox="1"/>
          <p:nvPr/>
        </p:nvSpPr>
        <p:spPr>
          <a:xfrm>
            <a:off x="6355080" y="2862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7" name="text-125"/>
          <p:cNvSpPr txBox="1"/>
          <p:nvPr/>
        </p:nvSpPr>
        <p:spPr>
          <a:xfrm>
            <a:off x="6355080" y="316382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(8 GB) mit AI HAT+ (Hailo-8L, 13 TOPS) und Pi Camera Module 3</a:t>
            </a:r>
            <a:endParaRPr lang="en-US" sz="1400" dirty="0"/>
          </a:p>
        </p:txBody>
      </p:sp>
      <p:sp>
        <p:nvSpPr>
          <p:cNvPr id="8" name="text-126"/>
          <p:cNvSpPr txBox="1"/>
          <p:nvPr/>
        </p:nvSpPr>
        <p:spPr>
          <a:xfrm>
            <a:off x="6355080" y="3941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WOFÜR</a:t>
            </a:r>
            <a:endParaRPr lang="en-US" sz="1200" dirty="0"/>
          </a:p>
        </p:txBody>
      </p:sp>
      <p:sp>
        <p:nvSpPr>
          <p:cNvPr id="9" name="text-127"/>
          <p:cNvSpPr txBox="1"/>
          <p:nvPr/>
        </p:nvSpPr>
        <p:spPr>
          <a:xfrm>
            <a:off x="6355080" y="424281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für die spätere Tür- und Hinderniserkennung</a:t>
            </a:r>
            <a:endParaRPr lang="en-US" sz="1400" dirty="0"/>
          </a:p>
        </p:txBody>
      </p:sp>
      <p:sp>
        <p:nvSpPr>
          <p:cNvPr id="10" name="text-128"/>
          <p:cNvSpPr txBox="1"/>
          <p:nvPr/>
        </p:nvSpPr>
        <p:spPr>
          <a:xfrm>
            <a:off x="6355080" y="5020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BILDRATE</a:t>
            </a:r>
            <a:endParaRPr lang="en-US" sz="1200" dirty="0"/>
          </a:p>
        </p:txBody>
      </p:sp>
      <p:sp>
        <p:nvSpPr>
          <p:cNvPr id="11" name="text-129"/>
          <p:cNvSpPr txBox="1"/>
          <p:nvPr/>
        </p:nvSpPr>
        <p:spPr>
          <a:xfrm>
            <a:off x="6355080" y="532180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[__] FPS</a:t>
            </a:r>
            <a:endParaRPr lang="en-US" sz="1400" dirty="0"/>
          </a:p>
        </p:txBody>
      </p:sp>
      <p:sp>
        <p:nvSpPr>
          <p:cNvPr id="12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Screenshot der Objekterkennung einfügen (auf das Bildsymbol klicken)</a:t>
            </a:r>
            <a:endParaRPr lang="en-US" sz="1200" dirty="0"/>
          </a:p>
        </p:txBody>
      </p:sp>
      <p:sp>
        <p:nvSpPr>
          <p:cNvPr id="14" name="Text 0"/>
          <p:cNvSpPr>
            <a:spLocks noGrp="1"/>
          </p:cNvSpPr>
          <p:nvPr>
            <p:ph type="pic" idx="102" hasCustomPrompt="1"/>
          </p:nvPr>
        </p:nvSpPr>
        <p:spPr>
          <a:xfrm>
            <a:off x="812902" y="1783080"/>
            <a:ext cx="5157216" cy="4023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AKTUELLER STAND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Schaltplan</a:t>
            </a:r>
            <a:endParaRPr lang="en-US" sz="3200" dirty="0"/>
          </a:p>
        </p:txBody>
      </p:sp>
      <p:sp>
        <p:nvSpPr>
          <p:cNvPr id="4" name="text-130"/>
          <p:cNvSpPr txBox="1"/>
          <p:nvPr/>
        </p:nvSpPr>
        <p:spPr>
          <a:xfrm>
            <a:off x="812902" y="1554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AQS-E-001 · Rev. 2 · 14.10.2026</a:t>
            </a:r>
            <a:endParaRPr lang="en-US" sz="1400" dirty="0"/>
          </a:p>
        </p:txBody>
      </p:sp>
      <p:sp>
        <p:nvSpPr>
          <p:cNvPr id="5" name="text-131"/>
          <p:cNvSpPr txBox="1"/>
          <p:nvPr/>
        </p:nvSpPr>
        <p:spPr>
          <a:xfrm>
            <a:off x="812902" y="21488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4S-LiPo (14,8 V) versorgt ESC und Flugregler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BEC 5 V / 5 A für Pi und Hailo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 2 über UART5, 921 600 Bd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Masse, nur 3,3-V-Pegel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Geräteliste nach EN 81346-2</a:t>
            </a:r>
            <a:endParaRPr lang="en-US" sz="1300" dirty="0"/>
          </a:p>
        </p:txBody>
      </p:sp>
      <p:sp>
        <p:nvSpPr>
          <p:cNvPr id="6" name="shape-132"/>
          <p:cNvSpPr/>
          <p:nvPr/>
        </p:nvSpPr>
        <p:spPr>
          <a:xfrm>
            <a:off x="3730752" y="402336"/>
            <a:ext cx="7872984" cy="5568696"/>
          </a:xfrm>
          <a:prstGeom prst="roundRect">
            <a:avLst>
              <a:gd name="adj" fmla="val 1314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7" name="schaltplan" descr="Elektrischer Übersichtsschaltplan AQS-E-00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76472" y="448056"/>
            <a:ext cx="7781544" cy="5477256"/>
          </a:xfrm>
          <a:prstGeom prst="rect">
            <a:avLst/>
          </a:prstGeom>
        </p:spPr>
      </p:pic>
      <p:sp>
        <p:nvSpPr>
          <p:cNvPr id="8" name="footer"/>
          <p:cNvSpPr txBox="1"/>
          <p:nvPr/>
        </p:nvSpPr>
        <p:spPr>
          <a:xfrm>
            <a:off x="812902" y="6236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Bearbeitet: Esguerra · Geprüft: Dallamassl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PROJEKTMANAGEMENT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Projektphasen 2026/27</a:t>
            </a:r>
            <a:endParaRPr lang="en-US" sz="3200" dirty="0"/>
          </a:p>
        </p:txBody>
      </p:sp>
      <p:sp>
        <p:nvSpPr>
          <p:cNvPr id="4" name="shape-133"/>
          <p:cNvSpPr/>
          <p:nvPr/>
        </p:nvSpPr>
        <p:spPr>
          <a:xfrm>
            <a:off x="812902" y="192938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E2841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5" name="text-134"/>
          <p:cNvSpPr txBox="1"/>
          <p:nvPr/>
        </p:nvSpPr>
        <p:spPr>
          <a:xfrm>
            <a:off x="1178662" y="18745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Konzept · 1 Monat</a:t>
            </a:r>
            <a:endParaRPr lang="en-US" sz="1500" dirty="0"/>
          </a:p>
        </p:txBody>
      </p:sp>
      <p:sp>
        <p:nvSpPr>
          <p:cNvPr id="6" name="text-135"/>
          <p:cNvSpPr txBox="1"/>
          <p:nvPr/>
        </p:nvSpPr>
        <p:spPr>
          <a:xfrm>
            <a:off x="1178662" y="2185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Antrag, Anforderungen, Komponentenauswahl</a:t>
            </a:r>
            <a:endParaRPr lang="en-US" sz="1200" dirty="0"/>
          </a:p>
        </p:txBody>
      </p:sp>
      <p:sp>
        <p:nvSpPr>
          <p:cNvPr id="7" name="shape-136"/>
          <p:cNvSpPr/>
          <p:nvPr/>
        </p:nvSpPr>
        <p:spPr>
          <a:xfrm>
            <a:off x="812902" y="27157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F5FBF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8" name="text-137"/>
          <p:cNvSpPr txBox="1"/>
          <p:nvPr/>
        </p:nvSpPr>
        <p:spPr>
          <a:xfrm>
            <a:off x="1178662" y="26609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Hardware · 2 Monate</a:t>
            </a:r>
            <a:endParaRPr lang="en-US" sz="1500" dirty="0"/>
          </a:p>
        </p:txBody>
      </p:sp>
      <p:sp>
        <p:nvSpPr>
          <p:cNvPr id="9" name="text-138"/>
          <p:cNvSpPr txBox="1"/>
          <p:nvPr/>
        </p:nvSpPr>
        <p:spPr>
          <a:xfrm>
            <a:off x="1178662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Rahmen, Materialtests, Verdrahtung, Erstflug</a:t>
            </a:r>
            <a:endParaRPr lang="en-US" sz="1200" dirty="0"/>
          </a:p>
        </p:txBody>
      </p:sp>
      <p:sp>
        <p:nvSpPr>
          <p:cNvPr id="10" name="shape-139"/>
          <p:cNvSpPr/>
          <p:nvPr/>
        </p:nvSpPr>
        <p:spPr>
          <a:xfrm>
            <a:off x="812902" y="35021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1" name="text-140"/>
          <p:cNvSpPr txBox="1"/>
          <p:nvPr/>
        </p:nvSpPr>
        <p:spPr>
          <a:xfrm>
            <a:off x="1178662" y="34472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Integration · 3 Monate</a:t>
            </a:r>
            <a:endParaRPr lang="en-US" sz="1500" dirty="0"/>
          </a:p>
        </p:txBody>
      </p:sp>
      <p:sp>
        <p:nvSpPr>
          <p:cNvPr id="12" name="text-141"/>
          <p:cNvSpPr txBox="1"/>
          <p:nvPr/>
        </p:nvSpPr>
        <p:spPr>
          <a:xfrm>
            <a:off x="1178662" y="37581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KI, MAVLink, Positionierung, Türdurchflug</a:t>
            </a:r>
            <a:endParaRPr lang="en-US" sz="1200" dirty="0"/>
          </a:p>
        </p:txBody>
      </p:sp>
      <p:sp>
        <p:nvSpPr>
          <p:cNvPr id="13" name="shape-142"/>
          <p:cNvSpPr/>
          <p:nvPr/>
        </p:nvSpPr>
        <p:spPr>
          <a:xfrm>
            <a:off x="812902" y="42885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BA3E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4" name="text-143"/>
          <p:cNvSpPr txBox="1"/>
          <p:nvPr/>
        </p:nvSpPr>
        <p:spPr>
          <a:xfrm>
            <a:off x="1178662" y="42336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Abnahme · 1 Monat</a:t>
            </a:r>
            <a:endParaRPr lang="en-US" sz="1500" dirty="0"/>
          </a:p>
        </p:txBody>
      </p:sp>
      <p:sp>
        <p:nvSpPr>
          <p:cNvPr id="15" name="text-144"/>
          <p:cNvSpPr txBox="1"/>
          <p:nvPr/>
        </p:nvSpPr>
        <p:spPr>
          <a:xfrm>
            <a:off x="1178662" y="4544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Testflüge manuell bis autonom, Abnahme 15.04.</a:t>
            </a:r>
            <a:endParaRPr lang="en-US" sz="1200" dirty="0"/>
          </a:p>
        </p:txBody>
      </p:sp>
      <p:sp>
        <p:nvSpPr>
          <p:cNvPr id="16" name="shape-145"/>
          <p:cNvSpPr/>
          <p:nvPr/>
        </p:nvSpPr>
        <p:spPr>
          <a:xfrm>
            <a:off x="812902" y="50749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6C9E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7" name="text-146"/>
          <p:cNvSpPr txBox="1"/>
          <p:nvPr/>
        </p:nvSpPr>
        <p:spPr>
          <a:xfrm>
            <a:off x="1178662" y="50200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&amp; Defensio · 1 Monat</a:t>
            </a:r>
            <a:endParaRPr lang="en-US" sz="1500" dirty="0"/>
          </a:p>
        </p:txBody>
      </p:sp>
      <p:sp>
        <p:nvSpPr>
          <p:cNvPr id="18" name="text-147"/>
          <p:cNvSpPr txBox="1"/>
          <p:nvPr/>
        </p:nvSpPr>
        <p:spPr>
          <a:xfrm>
            <a:off x="1178662" y="5330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DA-Buch, Plakat, Defensio am 28.04.2027</a:t>
            </a:r>
            <a:endParaRPr lang="en-US" sz="1200" dirty="0"/>
          </a:p>
        </p:txBody>
      </p:sp>
      <p:sp>
        <p:nvSpPr>
          <p:cNvPr id="19" name="shape-148"/>
          <p:cNvSpPr/>
          <p:nvPr/>
        </p:nvSpPr>
        <p:spPr>
          <a:xfrm>
            <a:off x="5577840" y="1783080"/>
            <a:ext cx="5797296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pic>
        <p:nvPicPr>
          <p:cNvPr id="20" name="pie" descr="Kreisdiagramm der Projektphase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874520"/>
            <a:ext cx="5522976" cy="3913632"/>
          </a:xfrm>
          <a:prstGeom prst="rect">
            <a:avLst/>
          </a:prstGeom>
        </p:spPr>
      </p:pic>
      <p:sp>
        <p:nvSpPr>
          <p:cNvPr id="21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 überlappen sich, weil Hardware und Software parallel entwickelt werden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PROJEKTMANAGEMENT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Projektstrukturplan: 6 Teilprojekte, 23 Arbeitspakete</a:t>
            </a:r>
            <a:endParaRPr lang="en-US" sz="3200" dirty="0"/>
          </a:p>
        </p:txBody>
      </p:sp>
      <p:sp>
        <p:nvSpPr>
          <p:cNvPr id="4" name="shape-149"/>
          <p:cNvSpPr/>
          <p:nvPr/>
        </p:nvSpPr>
        <p:spPr>
          <a:xfrm>
            <a:off x="812902" y="1737360"/>
            <a:ext cx="10566806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pic>
        <p:nvPicPr>
          <p:cNvPr id="5" name="psp" descr="Projektstrukturpla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4342" y="1828800"/>
            <a:ext cx="10383926" cy="4023360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 = erledigt · Orange = in Arbeit · Weiß = geplant (Stand 22.10.2026)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PROJEKTMANAGEMENT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Zeitplan</a:t>
            </a:r>
            <a:endParaRPr lang="en-US" sz="3200" dirty="0"/>
          </a:p>
        </p:txBody>
      </p:sp>
      <p:sp>
        <p:nvSpPr>
          <p:cNvPr id="4" name="text-150"/>
          <p:cNvSpPr txBox="1"/>
          <p:nvPr/>
        </p:nvSpPr>
        <p:spPr>
          <a:xfrm>
            <a:off x="812902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Gantt-Diagramm September 2026 bis April 2027</a:t>
            </a:r>
            <a:endParaRPr lang="en-US" sz="1400" dirty="0"/>
          </a:p>
        </p:txBody>
      </p:sp>
      <p:sp>
        <p:nvSpPr>
          <p:cNvPr id="5" name="shape-151"/>
          <p:cNvSpPr/>
          <p:nvPr/>
        </p:nvSpPr>
        <p:spPr>
          <a:xfrm>
            <a:off x="812902" y="2423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F5FBF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6" name="text-152"/>
          <p:cNvSpPr txBox="1"/>
          <p:nvPr/>
        </p:nvSpPr>
        <p:spPr>
          <a:xfrm>
            <a:off x="1132942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Erledigt</a:t>
            </a:r>
            <a:endParaRPr lang="en-US" sz="1400" dirty="0"/>
          </a:p>
        </p:txBody>
      </p:sp>
      <p:sp>
        <p:nvSpPr>
          <p:cNvPr id="7" name="text-153"/>
          <p:cNvSpPr txBox="1"/>
          <p:nvPr/>
        </p:nvSpPr>
        <p:spPr>
          <a:xfrm>
            <a:off x="1132942" y="2670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Konzept, Beschaffung, Schaltplan, Prototyp 1, Erstflug</a:t>
            </a:r>
            <a:endParaRPr lang="en-US" sz="1200" dirty="0"/>
          </a:p>
        </p:txBody>
      </p:sp>
      <p:sp>
        <p:nvSpPr>
          <p:cNvPr id="8" name="shape-154"/>
          <p:cNvSpPr/>
          <p:nvPr/>
        </p:nvSpPr>
        <p:spPr>
          <a:xfrm>
            <a:off x="812902" y="338328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06A1B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9" name="text-155"/>
          <p:cNvSpPr txBox="1"/>
          <p:nvPr/>
        </p:nvSpPr>
        <p:spPr>
          <a:xfrm>
            <a:off x="1132942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Arbeit</a:t>
            </a:r>
            <a:endParaRPr lang="en-US" sz="1400" dirty="0"/>
          </a:p>
        </p:txBody>
      </p:sp>
      <p:sp>
        <p:nvSpPr>
          <p:cNvPr id="10" name="text-156"/>
          <p:cNvSpPr txBox="1"/>
          <p:nvPr/>
        </p:nvSpPr>
        <p:spPr>
          <a:xfrm>
            <a:off x="1132942" y="3630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2, Halterungen, Objekterkennung, DA-Buch</a:t>
            </a:r>
            <a:endParaRPr lang="en-US" sz="1200" dirty="0"/>
          </a:p>
        </p:txBody>
      </p:sp>
      <p:sp>
        <p:nvSpPr>
          <p:cNvPr id="11" name="shape-157"/>
          <p:cNvSpPr/>
          <p:nvPr/>
        </p:nvSpPr>
        <p:spPr>
          <a:xfrm>
            <a:off x="812902" y="43434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BA3E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2" name="text-158"/>
          <p:cNvSpPr txBox="1"/>
          <p:nvPr/>
        </p:nvSpPr>
        <p:spPr>
          <a:xfrm>
            <a:off x="1132942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</a:t>
            </a:r>
            <a:endParaRPr lang="en-US" sz="1400" dirty="0"/>
          </a:p>
        </p:txBody>
      </p:sp>
      <p:sp>
        <p:nvSpPr>
          <p:cNvPr id="13" name="text-159"/>
          <p:cNvSpPr txBox="1"/>
          <p:nvPr/>
        </p:nvSpPr>
        <p:spPr>
          <a:xfrm>
            <a:off x="1132942" y="4590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MAVLink, Positionierung, Navigation, Tests</a:t>
            </a:r>
            <a:endParaRPr lang="en-US" sz="1200" dirty="0"/>
          </a:p>
        </p:txBody>
      </p:sp>
      <p:pic>
        <p:nvPicPr>
          <p:cNvPr id="14" name="gantt" descr="Gantt-Diagramm September 2026 bis April 202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30752" y="402336"/>
            <a:ext cx="7872984" cy="5596128"/>
          </a:xfrm>
          <a:prstGeom prst="rect">
            <a:avLst/>
          </a:prstGeom>
        </p:spPr>
      </p:pic>
      <p:sp>
        <p:nvSpPr>
          <p:cNvPr id="15" name="footer"/>
          <p:cNvSpPr txBox="1"/>
          <p:nvPr/>
        </p:nvSpPr>
        <p:spPr>
          <a:xfrm>
            <a:off x="812902" y="6236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 Linie = Stichtag 22.10.2026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PROJEKTMANAGEMENT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Meilensteine</a:t>
            </a:r>
            <a:endParaRPr lang="en-US" sz="3200" dirty="0"/>
          </a:p>
        </p:txBody>
      </p:sp>
      <p:sp>
        <p:nvSpPr>
          <p:cNvPr id="4" name="text-160"/>
          <p:cNvSpPr txBox="1"/>
          <p:nvPr/>
        </p:nvSpPr>
        <p:spPr>
          <a:xfrm>
            <a:off x="812902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Schule (Laboreinteilung 5AHWII)</a:t>
            </a:r>
            <a:endParaRPr lang="en-US" sz="1600" dirty="0"/>
          </a:p>
        </p:txBody>
      </p:sp>
      <p:graphicFrame>
        <p:nvGraphicFramePr>
          <p:cNvPr id="17" name="tbl-schu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240280"/>
          <a:ext cx="5074920" cy="32918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Meilenstein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17.09.2026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Diplomarbeitsantrag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erledigt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15.10.2026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Zwischenpräsentation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erledigt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10.12.2026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Zwischenpräsentation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17.12.2026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Abgabe DA-Buch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21.01.2027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Plakate fertig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11.02.2027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Zwischenpräsentation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06.04.2027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Abgabe der Diplomarbeit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15.04.2027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Abnahme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28.04.2027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-161"/>
          <p:cNvSpPr txBox="1"/>
          <p:nvPr/>
        </p:nvSpPr>
        <p:spPr>
          <a:xfrm>
            <a:off x="6299302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 (Prototyp)</a:t>
            </a:r>
            <a:endParaRPr lang="en-US" sz="1600" dirty="0"/>
          </a:p>
        </p:txBody>
      </p:sp>
      <p:graphicFrame>
        <p:nvGraphicFramePr>
          <p:cNvPr id="33" name="tbl-techni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9302" y="2240280"/>
          <a:ext cx="5074920" cy="23042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Meilenstein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[Datum]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Erstflug mit RC-Fernsteuerung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erledigt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03.12.2026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 2 (PC-Nylon) fertig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Arbeit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03.12.2026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steuert Flugregler (MAVLink)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28.01.2027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Schwebeflug ohne GPS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04.03.2027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Tür- und Hinderniserkennung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15.04.2027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Autonomer Abnahmeflug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Ferien und Abschlussreise sind als Zeiten ohne Laboreinheit eingeplant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PROJEKTMANAGEMENT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Netzplan: der kritische Pfad</a:t>
            </a:r>
            <a:endParaRPr lang="en-US" sz="3200" dirty="0"/>
          </a:p>
        </p:txBody>
      </p:sp>
      <p:sp>
        <p:nvSpPr>
          <p:cNvPr id="4" name="shape-162"/>
          <p:cNvSpPr/>
          <p:nvPr/>
        </p:nvSpPr>
        <p:spPr>
          <a:xfrm>
            <a:off x="812902" y="178308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-163"/>
          <p:cNvSpPr txBox="1"/>
          <p:nvPr/>
        </p:nvSpPr>
        <p:spPr>
          <a:xfrm>
            <a:off x="922630" y="187452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2 W</a:t>
            </a:r>
            <a:endParaRPr lang="en-US" sz="1200" dirty="0"/>
          </a:p>
        </p:txBody>
      </p:sp>
      <p:sp>
        <p:nvSpPr>
          <p:cNvPr id="6" name="text-164"/>
          <p:cNvSpPr txBox="1"/>
          <p:nvPr/>
        </p:nvSpPr>
        <p:spPr>
          <a:xfrm>
            <a:off x="922630" y="216712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7" name="arrow-165"/>
          <p:cNvSpPr/>
          <p:nvPr/>
        </p:nvSpPr>
        <p:spPr>
          <a:xfrm>
            <a:off x="2369820" y="209397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8" name="shape-166"/>
          <p:cNvSpPr/>
          <p:nvPr/>
        </p:nvSpPr>
        <p:spPr>
          <a:xfrm>
            <a:off x="2625852" y="178308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-167"/>
          <p:cNvSpPr txBox="1"/>
          <p:nvPr/>
        </p:nvSpPr>
        <p:spPr>
          <a:xfrm>
            <a:off x="2735580" y="187452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3 W</a:t>
            </a:r>
            <a:endParaRPr lang="en-US" sz="1200" dirty="0"/>
          </a:p>
        </p:txBody>
      </p:sp>
      <p:sp>
        <p:nvSpPr>
          <p:cNvPr id="10" name="text-168"/>
          <p:cNvSpPr txBox="1"/>
          <p:nvPr/>
        </p:nvSpPr>
        <p:spPr>
          <a:xfrm>
            <a:off x="2735580" y="216712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300" dirty="0"/>
          </a:p>
        </p:txBody>
      </p:sp>
      <p:sp>
        <p:nvSpPr>
          <p:cNvPr id="11" name="arrow-169"/>
          <p:cNvSpPr/>
          <p:nvPr/>
        </p:nvSpPr>
        <p:spPr>
          <a:xfrm>
            <a:off x="4182770" y="209397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2" name="shape-170"/>
          <p:cNvSpPr/>
          <p:nvPr/>
        </p:nvSpPr>
        <p:spPr>
          <a:xfrm>
            <a:off x="4438802" y="178308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-171"/>
          <p:cNvSpPr txBox="1"/>
          <p:nvPr/>
        </p:nvSpPr>
        <p:spPr>
          <a:xfrm>
            <a:off x="4548530" y="187452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2 W</a:t>
            </a:r>
            <a:endParaRPr lang="en-US" sz="1200" dirty="0"/>
          </a:p>
        </p:txBody>
      </p:sp>
      <p:sp>
        <p:nvSpPr>
          <p:cNvPr id="14" name="text-172"/>
          <p:cNvSpPr txBox="1"/>
          <p:nvPr/>
        </p:nvSpPr>
        <p:spPr>
          <a:xfrm>
            <a:off x="4548530" y="216712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 P1</a:t>
            </a:r>
            <a:endParaRPr lang="en-US" sz="1300" dirty="0"/>
          </a:p>
        </p:txBody>
      </p:sp>
      <p:sp>
        <p:nvSpPr>
          <p:cNvPr id="15" name="arrow-173"/>
          <p:cNvSpPr/>
          <p:nvPr/>
        </p:nvSpPr>
        <p:spPr>
          <a:xfrm>
            <a:off x="5995721" y="209397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6" name="shape-174"/>
          <p:cNvSpPr/>
          <p:nvPr/>
        </p:nvSpPr>
        <p:spPr>
          <a:xfrm>
            <a:off x="6251753" y="178308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-175"/>
          <p:cNvSpPr txBox="1"/>
          <p:nvPr/>
        </p:nvSpPr>
        <p:spPr>
          <a:xfrm>
            <a:off x="6361481" y="187452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2 W</a:t>
            </a:r>
            <a:endParaRPr lang="en-US" sz="1200" dirty="0"/>
          </a:p>
        </p:txBody>
      </p:sp>
      <p:sp>
        <p:nvSpPr>
          <p:cNvPr id="18" name="text-176"/>
          <p:cNvSpPr txBox="1"/>
          <p:nvPr/>
        </p:nvSpPr>
        <p:spPr>
          <a:xfrm>
            <a:off x="6361481" y="216712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</a:t>
            </a:r>
            <a:endParaRPr lang="en-US" sz="1300" dirty="0"/>
          </a:p>
        </p:txBody>
      </p:sp>
      <p:sp>
        <p:nvSpPr>
          <p:cNvPr id="19" name="arrow-177"/>
          <p:cNvSpPr/>
          <p:nvPr/>
        </p:nvSpPr>
        <p:spPr>
          <a:xfrm>
            <a:off x="7808671" y="209397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0" name="shape-178"/>
          <p:cNvSpPr/>
          <p:nvPr/>
        </p:nvSpPr>
        <p:spPr>
          <a:xfrm>
            <a:off x="8064703" y="178308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text-179"/>
          <p:cNvSpPr txBox="1"/>
          <p:nvPr/>
        </p:nvSpPr>
        <p:spPr>
          <a:xfrm>
            <a:off x="8174431" y="187452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1 W</a:t>
            </a:r>
            <a:endParaRPr lang="en-US" sz="1200" dirty="0"/>
          </a:p>
        </p:txBody>
      </p:sp>
      <p:sp>
        <p:nvSpPr>
          <p:cNvPr id="22" name="text-180"/>
          <p:cNvSpPr txBox="1"/>
          <p:nvPr/>
        </p:nvSpPr>
        <p:spPr>
          <a:xfrm>
            <a:off x="8174431" y="216712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Erstflug</a:t>
            </a:r>
            <a:endParaRPr lang="en-US" sz="1300" dirty="0"/>
          </a:p>
        </p:txBody>
      </p:sp>
      <p:sp>
        <p:nvSpPr>
          <p:cNvPr id="23" name="arrow-181"/>
          <p:cNvSpPr/>
          <p:nvPr/>
        </p:nvSpPr>
        <p:spPr>
          <a:xfrm>
            <a:off x="9621622" y="209397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4" name="shape-182"/>
          <p:cNvSpPr/>
          <p:nvPr/>
        </p:nvSpPr>
        <p:spPr>
          <a:xfrm>
            <a:off x="9877654" y="178308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5" name="text-183"/>
          <p:cNvSpPr txBox="1"/>
          <p:nvPr/>
        </p:nvSpPr>
        <p:spPr>
          <a:xfrm>
            <a:off x="9987382" y="187452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3 W</a:t>
            </a:r>
            <a:endParaRPr lang="en-US" sz="1200" dirty="0"/>
          </a:p>
        </p:txBody>
      </p:sp>
      <p:sp>
        <p:nvSpPr>
          <p:cNvPr id="26" name="text-184"/>
          <p:cNvSpPr txBox="1"/>
          <p:nvPr/>
        </p:nvSpPr>
        <p:spPr>
          <a:xfrm>
            <a:off x="9987382" y="216712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</a:t>
            </a:r>
            <a:endParaRPr lang="en-US" sz="1300" dirty="0"/>
          </a:p>
        </p:txBody>
      </p:sp>
      <p:sp>
        <p:nvSpPr>
          <p:cNvPr id="27" name="shape-185"/>
          <p:cNvSpPr/>
          <p:nvPr/>
        </p:nvSpPr>
        <p:spPr>
          <a:xfrm>
            <a:off x="812902" y="278892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8" name="text-186"/>
          <p:cNvSpPr txBox="1"/>
          <p:nvPr/>
        </p:nvSpPr>
        <p:spPr>
          <a:xfrm>
            <a:off x="922630" y="288036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· 5 W</a:t>
            </a:r>
            <a:endParaRPr lang="en-US" sz="1200" dirty="0"/>
          </a:p>
        </p:txBody>
      </p:sp>
      <p:sp>
        <p:nvSpPr>
          <p:cNvPr id="29" name="text-187"/>
          <p:cNvSpPr txBox="1"/>
          <p:nvPr/>
        </p:nvSpPr>
        <p:spPr>
          <a:xfrm>
            <a:off x="922630" y="317296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Positionierung</a:t>
            </a:r>
            <a:endParaRPr lang="en-US" sz="1300" dirty="0"/>
          </a:p>
        </p:txBody>
      </p:sp>
      <p:sp>
        <p:nvSpPr>
          <p:cNvPr id="30" name="arrow-188"/>
          <p:cNvSpPr/>
          <p:nvPr/>
        </p:nvSpPr>
        <p:spPr>
          <a:xfrm>
            <a:off x="2369820" y="309981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31" name="shape-189"/>
          <p:cNvSpPr/>
          <p:nvPr/>
        </p:nvSpPr>
        <p:spPr>
          <a:xfrm>
            <a:off x="2625852" y="278892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2" name="text-190"/>
          <p:cNvSpPr txBox="1"/>
          <p:nvPr/>
        </p:nvSpPr>
        <p:spPr>
          <a:xfrm>
            <a:off x="2735580" y="288036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5 W</a:t>
            </a:r>
            <a:endParaRPr lang="en-US" sz="1200" dirty="0"/>
          </a:p>
        </p:txBody>
      </p:sp>
      <p:sp>
        <p:nvSpPr>
          <p:cNvPr id="33" name="text-191"/>
          <p:cNvSpPr txBox="1"/>
          <p:nvPr/>
        </p:nvSpPr>
        <p:spPr>
          <a:xfrm>
            <a:off x="2735580" y="317296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Hindernis &amp; Tür</a:t>
            </a:r>
            <a:endParaRPr lang="en-US" sz="1300" dirty="0"/>
          </a:p>
        </p:txBody>
      </p:sp>
      <p:sp>
        <p:nvSpPr>
          <p:cNvPr id="34" name="arrow-192"/>
          <p:cNvSpPr/>
          <p:nvPr/>
        </p:nvSpPr>
        <p:spPr>
          <a:xfrm>
            <a:off x="4182770" y="309981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35" name="shape-193"/>
          <p:cNvSpPr/>
          <p:nvPr/>
        </p:nvSpPr>
        <p:spPr>
          <a:xfrm>
            <a:off x="4438802" y="278892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6" name="text-194"/>
          <p:cNvSpPr txBox="1"/>
          <p:nvPr/>
        </p:nvSpPr>
        <p:spPr>
          <a:xfrm>
            <a:off x="4548530" y="288036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· 3 W</a:t>
            </a:r>
            <a:endParaRPr lang="en-US" sz="1200" dirty="0"/>
          </a:p>
        </p:txBody>
      </p:sp>
      <p:sp>
        <p:nvSpPr>
          <p:cNvPr id="37" name="text-195"/>
          <p:cNvSpPr txBox="1"/>
          <p:nvPr/>
        </p:nvSpPr>
        <p:spPr>
          <a:xfrm>
            <a:off x="4548530" y="317296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38" name="arrow-196"/>
          <p:cNvSpPr/>
          <p:nvPr/>
        </p:nvSpPr>
        <p:spPr>
          <a:xfrm>
            <a:off x="5995721" y="309981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39" name="shape-197"/>
          <p:cNvSpPr/>
          <p:nvPr/>
        </p:nvSpPr>
        <p:spPr>
          <a:xfrm>
            <a:off x="6251753" y="278892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0" name="text-198"/>
          <p:cNvSpPr txBox="1"/>
          <p:nvPr/>
        </p:nvSpPr>
        <p:spPr>
          <a:xfrm>
            <a:off x="6361481" y="288036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4 W</a:t>
            </a:r>
            <a:endParaRPr lang="en-US" sz="1200" dirty="0"/>
          </a:p>
        </p:txBody>
      </p:sp>
      <p:sp>
        <p:nvSpPr>
          <p:cNvPr id="41" name="text-199"/>
          <p:cNvSpPr txBox="1"/>
          <p:nvPr/>
        </p:nvSpPr>
        <p:spPr>
          <a:xfrm>
            <a:off x="6361481" y="317296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Testflüge</a:t>
            </a:r>
            <a:endParaRPr lang="en-US" sz="1300" dirty="0"/>
          </a:p>
        </p:txBody>
      </p:sp>
      <p:sp>
        <p:nvSpPr>
          <p:cNvPr id="42" name="arrow-200"/>
          <p:cNvSpPr/>
          <p:nvPr/>
        </p:nvSpPr>
        <p:spPr>
          <a:xfrm>
            <a:off x="7808671" y="309981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43" name="shape-201"/>
          <p:cNvSpPr/>
          <p:nvPr/>
        </p:nvSpPr>
        <p:spPr>
          <a:xfrm>
            <a:off x="8064703" y="278892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4" name="text-202"/>
          <p:cNvSpPr txBox="1"/>
          <p:nvPr/>
        </p:nvSpPr>
        <p:spPr>
          <a:xfrm>
            <a:off x="8174431" y="288036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1 W</a:t>
            </a:r>
            <a:endParaRPr lang="en-US" sz="1200" dirty="0"/>
          </a:p>
        </p:txBody>
      </p:sp>
      <p:sp>
        <p:nvSpPr>
          <p:cNvPr id="45" name="text-203"/>
          <p:cNvSpPr txBox="1"/>
          <p:nvPr/>
        </p:nvSpPr>
        <p:spPr>
          <a:xfrm>
            <a:off x="8174431" y="317296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Abnahme</a:t>
            </a:r>
            <a:endParaRPr lang="en-US" sz="1300" dirty="0"/>
          </a:p>
        </p:txBody>
      </p:sp>
      <p:sp>
        <p:nvSpPr>
          <p:cNvPr id="46" name="arrow-204"/>
          <p:cNvSpPr/>
          <p:nvPr/>
        </p:nvSpPr>
        <p:spPr>
          <a:xfrm>
            <a:off x="9621622" y="3099816"/>
            <a:ext cx="201168" cy="164592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47" name="shape-205"/>
          <p:cNvSpPr/>
          <p:nvPr/>
        </p:nvSpPr>
        <p:spPr>
          <a:xfrm>
            <a:off x="9877654" y="2788920"/>
            <a:ext cx="1502054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48" name="text-206"/>
          <p:cNvSpPr txBox="1"/>
          <p:nvPr/>
        </p:nvSpPr>
        <p:spPr>
          <a:xfrm>
            <a:off x="9987382" y="2880360"/>
            <a:ext cx="128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F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</a:t>
            </a:r>
            <a:endParaRPr lang="en-US" sz="1200" dirty="0"/>
          </a:p>
        </p:txBody>
      </p:sp>
      <p:sp>
        <p:nvSpPr>
          <p:cNvPr id="49" name="text-207"/>
          <p:cNvSpPr txBox="1"/>
          <p:nvPr/>
        </p:nvSpPr>
        <p:spPr>
          <a:xfrm>
            <a:off x="9987382" y="3172968"/>
            <a:ext cx="1282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Wochen</a:t>
            </a:r>
            <a:endParaRPr lang="en-US" sz="1300" dirty="0"/>
          </a:p>
        </p:txBody>
      </p:sp>
      <p:sp>
        <p:nvSpPr>
          <p:cNvPr id="50" name="shape-208"/>
          <p:cNvSpPr/>
          <p:nvPr/>
        </p:nvSpPr>
        <p:spPr>
          <a:xfrm>
            <a:off x="812902" y="4114800"/>
            <a:ext cx="3339389" cy="1600200"/>
          </a:xfrm>
          <a:prstGeom prst="roundRect">
            <a:avLst>
              <a:gd name="adj" fmla="val 6857"/>
            </a:avLst>
          </a:prstGeom>
          <a:solidFill>
            <a:srgbClr val="FBE3D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51" name="text-209"/>
          <p:cNvSpPr txBox="1"/>
          <p:nvPr/>
        </p:nvSpPr>
        <p:spPr>
          <a:xfrm>
            <a:off x="1041502" y="4297680"/>
            <a:ext cx="288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3C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Puffer</a:t>
            </a:r>
            <a:endParaRPr lang="en-US" sz="1600" dirty="0"/>
          </a:p>
        </p:txBody>
      </p:sp>
      <p:sp>
        <p:nvSpPr>
          <p:cNvPr id="52" name="text-210"/>
          <p:cNvSpPr txBox="1"/>
          <p:nvPr/>
        </p:nvSpPr>
        <p:spPr>
          <a:xfrm>
            <a:off x="1041502" y="4709160"/>
            <a:ext cx="28821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Verzögerung auf dem kritischen Pfad verschiebt direkt die Abnahme.</a:t>
            </a:r>
            <a:endParaRPr lang="en-US" sz="1300" dirty="0"/>
          </a:p>
        </p:txBody>
      </p:sp>
      <p:sp>
        <p:nvSpPr>
          <p:cNvPr id="53" name="shape-211"/>
          <p:cNvSpPr/>
          <p:nvPr/>
        </p:nvSpPr>
        <p:spPr>
          <a:xfrm>
            <a:off x="4426610" y="4114800"/>
            <a:ext cx="3339389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4" name="text-212"/>
          <p:cNvSpPr txBox="1"/>
          <p:nvPr/>
        </p:nvSpPr>
        <p:spPr>
          <a:xfrm>
            <a:off x="4655210" y="4297680"/>
            <a:ext cx="288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7 Wochen Puffer</a:t>
            </a:r>
            <a:endParaRPr lang="en-US" sz="1600" dirty="0"/>
          </a:p>
        </p:txBody>
      </p:sp>
      <p:sp>
        <p:nvSpPr>
          <p:cNvPr id="55" name="text-213"/>
          <p:cNvSpPr txBox="1"/>
          <p:nvPr/>
        </p:nvSpPr>
        <p:spPr>
          <a:xfrm>
            <a:off x="4655210" y="4709160"/>
            <a:ext cx="28821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neue Rahmen aus PC-Nylon muss erst zur Integration fertig sein.</a:t>
            </a:r>
            <a:endParaRPr lang="en-US" sz="1300" dirty="0"/>
          </a:p>
        </p:txBody>
      </p:sp>
      <p:sp>
        <p:nvSpPr>
          <p:cNvPr id="56" name="shape-214"/>
          <p:cNvSpPr/>
          <p:nvPr/>
        </p:nvSpPr>
        <p:spPr>
          <a:xfrm>
            <a:off x="8040319" y="4114800"/>
            <a:ext cx="3339389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7" name="text-215"/>
          <p:cNvSpPr txBox="1"/>
          <p:nvPr/>
        </p:nvSpPr>
        <p:spPr>
          <a:xfrm>
            <a:off x="8268919" y="4297680"/>
            <a:ext cx="288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G, H · 1 Woche Puffer</a:t>
            </a:r>
            <a:endParaRPr lang="en-US" sz="1600" dirty="0"/>
          </a:p>
        </p:txBody>
      </p:sp>
      <p:sp>
        <p:nvSpPr>
          <p:cNvPr id="58" name="text-216"/>
          <p:cNvSpPr txBox="1"/>
          <p:nvPr/>
        </p:nvSpPr>
        <p:spPr>
          <a:xfrm>
            <a:off x="8268919" y="4709160"/>
            <a:ext cx="28821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Pi-Setup und Objekterkennung sind schon weitgehend erledigt.</a:t>
            </a:r>
            <a:endParaRPr lang="en-US" sz="1300" dirty="0"/>
          </a:p>
        </p:txBody>
      </p:sp>
      <p:sp>
        <p:nvSpPr>
          <p:cNvPr id="59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 in Wochen, ohne Ferien · vollständiger Netzplan mit FAZ/FEZ im DA-Buch</a:t>
            </a:r>
            <a:endParaRPr lang="en-US" sz="12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PROJEKTMANAGEMENT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größten Risiken</a:t>
            </a:r>
            <a:endParaRPr lang="en-US" sz="3200" dirty="0"/>
          </a:p>
        </p:txBody>
      </p:sp>
      <p:sp>
        <p:nvSpPr>
          <p:cNvPr id="4" name="shape-217"/>
          <p:cNvSpPr/>
          <p:nvPr/>
        </p:nvSpPr>
        <p:spPr>
          <a:xfrm>
            <a:off x="812902" y="1783080"/>
            <a:ext cx="530352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pic>
        <p:nvPicPr>
          <p:cNvPr id="5" name="risikomatrix" descr="Risikomatrix mit zehn Risike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4342" y="1874520"/>
            <a:ext cx="5120640" cy="3840480"/>
          </a:xfrm>
          <a:prstGeom prst="rect">
            <a:avLst/>
          </a:prstGeom>
        </p:spPr>
      </p:pic>
      <p:sp>
        <p:nvSpPr>
          <p:cNvPr id="6" name="risk-dot-0"/>
          <p:cNvSpPr/>
          <p:nvPr/>
        </p:nvSpPr>
        <p:spPr>
          <a:xfrm>
            <a:off x="6446520" y="1892808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7" name="text-218"/>
          <p:cNvSpPr txBox="1"/>
          <p:nvPr/>
        </p:nvSpPr>
        <p:spPr>
          <a:xfrm>
            <a:off x="6766560" y="18288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Absturz bei Testflügen · hoch / hoch</a:t>
            </a:r>
            <a:endParaRPr lang="en-US" sz="1400" dirty="0"/>
          </a:p>
        </p:txBody>
      </p:sp>
      <p:sp>
        <p:nvSpPr>
          <p:cNvPr id="8" name="text-219"/>
          <p:cNvSpPr txBox="1"/>
          <p:nvPr/>
        </p:nvSpPr>
        <p:spPr>
          <a:xfrm>
            <a:off x="6766560" y="21762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ohne Propeller testen, abgesicherter Bereich, Ersatzteile vorrätig</a:t>
            </a:r>
            <a:endParaRPr lang="en-US" sz="1200" dirty="0"/>
          </a:p>
        </p:txBody>
      </p:sp>
      <p:sp>
        <p:nvSpPr>
          <p:cNvPr id="9" name="risk-dot-1"/>
          <p:cNvSpPr/>
          <p:nvPr/>
        </p:nvSpPr>
        <p:spPr>
          <a:xfrm>
            <a:off x="6446520" y="2880360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0" name="text-220"/>
          <p:cNvSpPr txBox="1"/>
          <p:nvPr/>
        </p:nvSpPr>
        <p:spPr>
          <a:xfrm>
            <a:off x="6766560" y="28163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Positionsdrift ohne GPS · hoch / hoch</a:t>
            </a:r>
            <a:endParaRPr lang="en-US" sz="1400" dirty="0"/>
          </a:p>
        </p:txBody>
      </p:sp>
      <p:sp>
        <p:nvSpPr>
          <p:cNvPr id="11" name="text-221"/>
          <p:cNvSpPr txBox="1"/>
          <p:nvPr/>
        </p:nvSpPr>
        <p:spPr>
          <a:xfrm>
            <a:off x="6766560" y="316382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und Optical Flow kombinieren, manueller Rückfallmodus</a:t>
            </a:r>
            <a:endParaRPr lang="en-US" sz="1200" dirty="0"/>
          </a:p>
        </p:txBody>
      </p:sp>
      <p:sp>
        <p:nvSpPr>
          <p:cNvPr id="12" name="risk-dot-2"/>
          <p:cNvSpPr/>
          <p:nvPr/>
        </p:nvSpPr>
        <p:spPr>
          <a:xfrm>
            <a:off x="6446520" y="3867912"/>
            <a:ext cx="182880" cy="182880"/>
          </a:xfrm>
          <a:prstGeom prst="ellipse">
            <a:avLst/>
          </a:prstGeom>
          <a:solidFill>
            <a:srgbClr val="E06A1B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3" name="text-222"/>
          <p:cNvSpPr txBox="1"/>
          <p:nvPr/>
        </p:nvSpPr>
        <p:spPr>
          <a:xfrm>
            <a:off x="6766560" y="380390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Rahmenvibrationen · eingetreten</a:t>
            </a:r>
            <a:endParaRPr lang="en-US" sz="1400" dirty="0"/>
          </a:p>
        </p:txBody>
      </p:sp>
      <p:sp>
        <p:nvSpPr>
          <p:cNvPr id="14" name="text-223"/>
          <p:cNvSpPr txBox="1"/>
          <p:nvPr/>
        </p:nvSpPr>
        <p:spPr>
          <a:xfrm>
            <a:off x="6766560" y="415137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Wechsel auf PC-Nylon, entkoppelte Montage, Filter in ArduPilot</a:t>
            </a:r>
            <a:endParaRPr lang="en-US" sz="1200" dirty="0"/>
          </a:p>
        </p:txBody>
      </p:sp>
      <p:sp>
        <p:nvSpPr>
          <p:cNvPr id="15" name="risk-dot-3"/>
          <p:cNvSpPr/>
          <p:nvPr/>
        </p:nvSpPr>
        <p:spPr>
          <a:xfrm>
            <a:off x="6446520" y="4855464"/>
            <a:ext cx="182880" cy="182880"/>
          </a:xfrm>
          <a:prstGeom prst="ellipse">
            <a:avLst/>
          </a:prstGeom>
          <a:solidFill>
            <a:srgbClr val="E06A1B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6" name="text-224"/>
          <p:cNvSpPr txBox="1"/>
          <p:nvPr/>
        </p:nvSpPr>
        <p:spPr>
          <a:xfrm>
            <a:off x="6766560" y="479145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Rechenleistung / Latenz · mittel / hoch</a:t>
            </a:r>
            <a:endParaRPr lang="en-US" sz="1400" dirty="0"/>
          </a:p>
        </p:txBody>
      </p:sp>
      <p:sp>
        <p:nvSpPr>
          <p:cNvPr id="17" name="text-225"/>
          <p:cNvSpPr txBox="1"/>
          <p:nvPr/>
        </p:nvSpPr>
        <p:spPr>
          <a:xfrm>
            <a:off x="6766560" y="51389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Bildrate früh messen, Modell für Hailo optimieren</a:t>
            </a:r>
            <a:endParaRPr lang="en-US" sz="1200" dirty="0"/>
          </a:p>
        </p:txBody>
      </p:sp>
      <p:sp>
        <p:nvSpPr>
          <p:cNvPr id="18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Wahrscheinlichkeit / Auswirkung · alle 10 Risiken mit Maßnahmen im DA-Buch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PROJEKTMANAGEMENT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und Aufwand</a:t>
            </a:r>
            <a:endParaRPr lang="en-US" sz="3200" dirty="0"/>
          </a:p>
        </p:txBody>
      </p:sp>
      <p:graphicFrame>
        <p:nvGraphicFramePr>
          <p:cNvPr id="20" name="tbl-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783080"/>
          <a:ext cx="6126480" cy="3072384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Baugruppe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ca.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Bordrechner &amp; KI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5 (8 GB), AI HAT+, Kamera, 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Antrieb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F405-V5-Stack, 4 Motoren, Propeller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360°-LiDAR, Optical 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 &amp; Energie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ELRS-Empfänger, 4S-Akku, BEC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ABS, PLA, PC-Nylon, Düse, Kleinteile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-226"/>
          <p:cNvSpPr txBox="1"/>
          <p:nvPr/>
        </p:nvSpPr>
        <p:spPr>
          <a:xfrm>
            <a:off x="812902" y="4983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3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Richtwerte – werden durch die Rechnungsbeträge ersetzt</a:t>
            </a:r>
            <a:endParaRPr lang="en-US" sz="1200" dirty="0"/>
          </a:p>
        </p:txBody>
      </p:sp>
      <p:sp>
        <p:nvSpPr>
          <p:cNvPr id="6" name="shape-227"/>
          <p:cNvSpPr/>
          <p:nvPr/>
        </p:nvSpPr>
        <p:spPr>
          <a:xfrm>
            <a:off x="7315200" y="1783080"/>
            <a:ext cx="4059936" cy="192024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7" name="text-228"/>
          <p:cNvSpPr txBox="1"/>
          <p:nvPr/>
        </p:nvSpPr>
        <p:spPr>
          <a:xfrm>
            <a:off x="758952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h</a:t>
            </a:r>
            <a:endParaRPr lang="en-US" sz="4400" dirty="0"/>
          </a:p>
        </p:txBody>
      </p:sp>
      <p:sp>
        <p:nvSpPr>
          <p:cNvPr id="8" name="text-229"/>
          <p:cNvSpPr txBox="1"/>
          <p:nvPr/>
        </p:nvSpPr>
        <p:spPr>
          <a:xfrm>
            <a:off x="7589520" y="2743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geplanter Aufwand: 220 h Esguerra, 240 h Dallamassl (Planwerte)</a:t>
            </a:r>
            <a:endParaRPr lang="en-US" sz="1300" dirty="0"/>
          </a:p>
        </p:txBody>
      </p:sp>
      <p:sp>
        <p:nvSpPr>
          <p:cNvPr id="9" name="shape-230"/>
          <p:cNvSpPr/>
          <p:nvPr/>
        </p:nvSpPr>
        <p:spPr>
          <a:xfrm>
            <a:off x="7315200" y="3931920"/>
            <a:ext cx="4059936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text-231"/>
          <p:cNvSpPr txBox="1"/>
          <p:nvPr/>
        </p:nvSpPr>
        <p:spPr>
          <a:xfrm>
            <a:off x="758952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</a:t>
            </a:r>
            <a:endParaRPr lang="en-US" sz="1200" dirty="0"/>
          </a:p>
        </p:txBody>
      </p:sp>
      <p:sp>
        <p:nvSpPr>
          <p:cNvPr id="11" name="text-232"/>
          <p:cNvSpPr txBox="1"/>
          <p:nvPr/>
        </p:nvSpPr>
        <p:spPr>
          <a:xfrm>
            <a:off x="7589520" y="4434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SPL_2, 3D-Drucker Raise3D E2 und Bambu Lab, ArduPilot, Python, OpenCV, ROS 2</a:t>
            </a:r>
            <a:endParaRPr lang="en-US" sz="1300" dirty="0"/>
          </a:p>
        </p:txBody>
      </p:sp>
      <p:sp>
        <p:nvSpPr>
          <p:cNvPr id="12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Finanzierung: [Schule / Sponsor / Eigenmittel]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 bis zur Zwischenpräsentation 2</a:t>
            </a:r>
            <a:endParaRPr lang="en-US" sz="3200" dirty="0"/>
          </a:p>
        </p:txBody>
      </p:sp>
      <p:sp>
        <p:nvSpPr>
          <p:cNvPr id="4" name="shape-233"/>
          <p:cNvSpPr/>
          <p:nvPr/>
        </p:nvSpPr>
        <p:spPr>
          <a:xfrm>
            <a:off x="812902" y="2011680"/>
            <a:ext cx="1967057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-234"/>
          <p:cNvSpPr txBox="1"/>
          <p:nvPr/>
        </p:nvSpPr>
        <p:spPr>
          <a:xfrm>
            <a:off x="1014070" y="2240280"/>
            <a:ext cx="1564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03.12.</a:t>
            </a:r>
            <a:endParaRPr lang="en-US" sz="1800" dirty="0"/>
          </a:p>
        </p:txBody>
      </p:sp>
      <p:sp>
        <p:nvSpPr>
          <p:cNvPr id="6" name="text-235"/>
          <p:cNvSpPr txBox="1"/>
          <p:nvPr/>
        </p:nvSpPr>
        <p:spPr>
          <a:xfrm>
            <a:off x="1014070" y="2743200"/>
            <a:ext cx="156472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2 aus PC-Nylon fertig</a:t>
            </a:r>
            <a:endParaRPr lang="en-US" sz="1500" dirty="0"/>
          </a:p>
        </p:txBody>
      </p:sp>
      <p:sp>
        <p:nvSpPr>
          <p:cNvPr id="7" name="shape-236"/>
          <p:cNvSpPr/>
          <p:nvPr/>
        </p:nvSpPr>
        <p:spPr>
          <a:xfrm>
            <a:off x="2962839" y="2011680"/>
            <a:ext cx="1967057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" name="text-237"/>
          <p:cNvSpPr txBox="1"/>
          <p:nvPr/>
        </p:nvSpPr>
        <p:spPr>
          <a:xfrm>
            <a:off x="3164007" y="2240280"/>
            <a:ext cx="1564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03.12.</a:t>
            </a:r>
            <a:endParaRPr lang="en-US" sz="1800" dirty="0"/>
          </a:p>
        </p:txBody>
      </p:sp>
      <p:sp>
        <p:nvSpPr>
          <p:cNvPr id="9" name="text-238"/>
          <p:cNvSpPr txBox="1"/>
          <p:nvPr/>
        </p:nvSpPr>
        <p:spPr>
          <a:xfrm>
            <a:off x="3164007" y="2743200"/>
            <a:ext cx="156472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spricht MAVLink mit dem Flugregler</a:t>
            </a:r>
            <a:endParaRPr lang="en-US" sz="1500" dirty="0"/>
          </a:p>
        </p:txBody>
      </p:sp>
      <p:sp>
        <p:nvSpPr>
          <p:cNvPr id="10" name="shape-239"/>
          <p:cNvSpPr/>
          <p:nvPr/>
        </p:nvSpPr>
        <p:spPr>
          <a:xfrm>
            <a:off x="5112776" y="2011680"/>
            <a:ext cx="1967057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1" name="text-240"/>
          <p:cNvSpPr txBox="1"/>
          <p:nvPr/>
        </p:nvSpPr>
        <p:spPr>
          <a:xfrm>
            <a:off x="5313944" y="2240280"/>
            <a:ext cx="1564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FB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10.12.</a:t>
            </a:r>
            <a:endParaRPr lang="en-US" sz="1800" dirty="0"/>
          </a:p>
        </p:txBody>
      </p:sp>
      <p:sp>
        <p:nvSpPr>
          <p:cNvPr id="12" name="text-241"/>
          <p:cNvSpPr txBox="1"/>
          <p:nvPr/>
        </p:nvSpPr>
        <p:spPr>
          <a:xfrm>
            <a:off x="5313944" y="2743200"/>
            <a:ext cx="156472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 2: erste Steuerbefehle vom Pi</a:t>
            </a:r>
            <a:endParaRPr lang="en-US" sz="1500" dirty="0"/>
          </a:p>
        </p:txBody>
      </p:sp>
      <p:sp>
        <p:nvSpPr>
          <p:cNvPr id="13" name="shape-242"/>
          <p:cNvSpPr/>
          <p:nvPr/>
        </p:nvSpPr>
        <p:spPr>
          <a:xfrm>
            <a:off x="7262713" y="2011680"/>
            <a:ext cx="1967057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text-243"/>
          <p:cNvSpPr txBox="1"/>
          <p:nvPr/>
        </p:nvSpPr>
        <p:spPr>
          <a:xfrm>
            <a:off x="7463881" y="2240280"/>
            <a:ext cx="1564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17.12.</a:t>
            </a:r>
            <a:endParaRPr lang="en-US" sz="1800" dirty="0"/>
          </a:p>
        </p:txBody>
      </p:sp>
      <p:sp>
        <p:nvSpPr>
          <p:cNvPr id="15" name="text-244"/>
          <p:cNvSpPr txBox="1"/>
          <p:nvPr/>
        </p:nvSpPr>
        <p:spPr>
          <a:xfrm>
            <a:off x="7463881" y="2743200"/>
            <a:ext cx="156472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Abgabe DA-Buch</a:t>
            </a:r>
            <a:endParaRPr lang="en-US" sz="1500" dirty="0"/>
          </a:p>
        </p:txBody>
      </p:sp>
      <p:sp>
        <p:nvSpPr>
          <p:cNvPr id="16" name="shape-245"/>
          <p:cNvSpPr/>
          <p:nvPr/>
        </p:nvSpPr>
        <p:spPr>
          <a:xfrm>
            <a:off x="9412651" y="2011680"/>
            <a:ext cx="1967057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-246"/>
          <p:cNvSpPr txBox="1"/>
          <p:nvPr/>
        </p:nvSpPr>
        <p:spPr>
          <a:xfrm>
            <a:off x="9613819" y="2240280"/>
            <a:ext cx="1564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28.01.</a:t>
            </a:r>
            <a:endParaRPr lang="en-US" sz="1800" dirty="0"/>
          </a:p>
        </p:txBody>
      </p:sp>
      <p:sp>
        <p:nvSpPr>
          <p:cNvPr id="18" name="text-247"/>
          <p:cNvSpPr txBox="1"/>
          <p:nvPr/>
        </p:nvSpPr>
        <p:spPr>
          <a:xfrm>
            <a:off x="9613819" y="2743200"/>
            <a:ext cx="156472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Schwebeflug ohne GPS</a:t>
            </a:r>
            <a:endParaRPr lang="en-US" sz="1500" dirty="0"/>
          </a:p>
        </p:txBody>
      </p:sp>
      <p:sp>
        <p:nvSpPr>
          <p:cNvPr id="19" name="shape-248"/>
          <p:cNvSpPr/>
          <p:nvPr/>
        </p:nvSpPr>
        <p:spPr>
          <a:xfrm>
            <a:off x="812902" y="4114800"/>
            <a:ext cx="10566806" cy="685800"/>
          </a:xfrm>
          <a:prstGeom prst="roundRect">
            <a:avLst>
              <a:gd name="adj" fmla="val 16000"/>
            </a:avLst>
          </a:prstGeom>
          <a:solidFill>
            <a:srgbClr val="E9EEF6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0" name="text-249"/>
          <p:cNvSpPr txBox="1"/>
          <p:nvPr/>
        </p:nvSpPr>
        <p:spPr>
          <a:xfrm>
            <a:off x="1087222" y="4114800"/>
            <a:ext cx="10018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GPS-freie Positionierung, Hindernis- und Türerkennung, autonome Testflüge – Abnahme am 15.04.2027.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56692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868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einzelnen Quadrocopter zum Schwarm</a:t>
            </a:r>
            <a:endParaRPr lang="en-US" sz="3200" dirty="0"/>
          </a:p>
        </p:txBody>
      </p:sp>
      <p:sp>
        <p:nvSpPr>
          <p:cNvPr id="4" name="text-250"/>
          <p:cNvSpPr txBox="1"/>
          <p:nvPr/>
        </p:nvSpPr>
        <p:spPr>
          <a:xfrm>
            <a:off x="812902" y="1645920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wollen weitere AQS-Drohnen bauen, die ein Gebäude gemeinsam erkunden.</a:t>
            </a:r>
            <a:endParaRPr lang="en-US" sz="2000" dirty="0"/>
          </a:p>
        </p:txBody>
      </p:sp>
      <p:sp>
        <p:nvSpPr>
          <p:cNvPr id="5" name="shape-251"/>
          <p:cNvSpPr/>
          <p:nvPr/>
        </p:nvSpPr>
        <p:spPr>
          <a:xfrm>
            <a:off x="812902" y="2331720"/>
            <a:ext cx="3339389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icon-bg-252"/>
          <p:cNvSpPr/>
          <p:nvPr/>
        </p:nvSpPr>
        <p:spPr>
          <a:xfrm>
            <a:off x="1041502" y="2514600"/>
            <a:ext cx="502920" cy="502920"/>
          </a:xfrm>
          <a:prstGeom prst="ellipse">
            <a:avLst/>
          </a:prstGeom>
          <a:solidFill>
            <a:srgbClr val="DCE8F8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7" name="icon-25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232" y="2640330"/>
            <a:ext cx="251460" cy="251460"/>
          </a:xfrm>
          <a:prstGeom prst="rect">
            <a:avLst/>
          </a:prstGeom>
        </p:spPr>
      </p:pic>
      <p:sp>
        <p:nvSpPr>
          <p:cNvPr id="8" name="text-253"/>
          <p:cNvSpPr txBox="1"/>
          <p:nvPr/>
        </p:nvSpPr>
        <p:spPr>
          <a:xfrm>
            <a:off x="1681582" y="2615184"/>
            <a:ext cx="22421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Fläche</a:t>
            </a:r>
            <a:endParaRPr lang="en-US" sz="1600" dirty="0"/>
          </a:p>
        </p:txBody>
      </p:sp>
      <p:sp>
        <p:nvSpPr>
          <p:cNvPr id="9" name="text-254"/>
          <p:cNvSpPr txBox="1"/>
          <p:nvPr/>
        </p:nvSpPr>
        <p:spPr>
          <a:xfrm>
            <a:off x="1041502" y="3154680"/>
            <a:ext cx="2882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Drohnen erkunden mehr Räume in kürzerer Zeit.</a:t>
            </a:r>
            <a:endParaRPr lang="en-US" sz="1300" dirty="0"/>
          </a:p>
        </p:txBody>
      </p:sp>
      <p:sp>
        <p:nvSpPr>
          <p:cNvPr id="10" name="shape-255"/>
          <p:cNvSpPr/>
          <p:nvPr/>
        </p:nvSpPr>
        <p:spPr>
          <a:xfrm>
            <a:off x="4426610" y="2331720"/>
            <a:ext cx="3339389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icon-bg-256"/>
          <p:cNvSpPr/>
          <p:nvPr/>
        </p:nvSpPr>
        <p:spPr>
          <a:xfrm>
            <a:off x="4655210" y="2514600"/>
            <a:ext cx="502920" cy="502920"/>
          </a:xfrm>
          <a:prstGeom prst="ellipse">
            <a:avLst/>
          </a:prstGeom>
          <a:solidFill>
            <a:srgbClr val="DCE8F8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2" name="icon-25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940" y="2640330"/>
            <a:ext cx="251460" cy="251460"/>
          </a:xfrm>
          <a:prstGeom prst="rect">
            <a:avLst/>
          </a:prstGeom>
        </p:spPr>
      </p:pic>
      <p:sp>
        <p:nvSpPr>
          <p:cNvPr id="13" name="text-257"/>
          <p:cNvSpPr txBox="1"/>
          <p:nvPr/>
        </p:nvSpPr>
        <p:spPr>
          <a:xfrm>
            <a:off x="5295290" y="2615184"/>
            <a:ext cx="22421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Ausfallsicher</a:t>
            </a:r>
            <a:endParaRPr lang="en-US" sz="1600" dirty="0"/>
          </a:p>
        </p:txBody>
      </p:sp>
      <p:sp>
        <p:nvSpPr>
          <p:cNvPr id="14" name="text-258"/>
          <p:cNvSpPr txBox="1"/>
          <p:nvPr/>
        </p:nvSpPr>
        <p:spPr>
          <a:xfrm>
            <a:off x="4655210" y="3154680"/>
            <a:ext cx="2882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Fällt eine Drohne aus, fliegen die anderen weiter.</a:t>
            </a:r>
            <a:endParaRPr lang="en-US" sz="1300" dirty="0"/>
          </a:p>
        </p:txBody>
      </p:sp>
      <p:sp>
        <p:nvSpPr>
          <p:cNvPr id="15" name="shape-259"/>
          <p:cNvSpPr/>
          <p:nvPr/>
        </p:nvSpPr>
        <p:spPr>
          <a:xfrm>
            <a:off x="8040319" y="2331720"/>
            <a:ext cx="3339389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6" name="icon-bg-260"/>
          <p:cNvSpPr/>
          <p:nvPr/>
        </p:nvSpPr>
        <p:spPr>
          <a:xfrm>
            <a:off x="8268919" y="2514600"/>
            <a:ext cx="502920" cy="502920"/>
          </a:xfrm>
          <a:prstGeom prst="ellipse">
            <a:avLst/>
          </a:prstGeom>
          <a:solidFill>
            <a:srgbClr val="DCE8F8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7" name="icon-26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649" y="2640330"/>
            <a:ext cx="251460" cy="251460"/>
          </a:xfrm>
          <a:prstGeom prst="rect">
            <a:avLst/>
          </a:prstGeom>
        </p:spPr>
      </p:pic>
      <p:sp>
        <p:nvSpPr>
          <p:cNvPr id="18" name="text-261"/>
          <p:cNvSpPr txBox="1"/>
          <p:nvPr/>
        </p:nvSpPr>
        <p:spPr>
          <a:xfrm>
            <a:off x="8908999" y="2615184"/>
            <a:ext cx="22421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Gemeinsame Karte</a:t>
            </a:r>
            <a:endParaRPr lang="en-US" sz="1600" dirty="0"/>
          </a:p>
        </p:txBody>
      </p:sp>
      <p:sp>
        <p:nvSpPr>
          <p:cNvPr id="19" name="text-262"/>
          <p:cNvSpPr txBox="1"/>
          <p:nvPr/>
        </p:nvSpPr>
        <p:spPr>
          <a:xfrm>
            <a:off x="8268919" y="3154680"/>
            <a:ext cx="2882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Drohne trägt ihre Daten zu einer Karte bei.</a:t>
            </a:r>
            <a:endParaRPr lang="en-US" sz="1300" dirty="0"/>
          </a:p>
        </p:txBody>
      </p:sp>
      <p:sp>
        <p:nvSpPr>
          <p:cNvPr id="20" name="shape-263"/>
          <p:cNvSpPr/>
          <p:nvPr/>
        </p:nvSpPr>
        <p:spPr>
          <a:xfrm>
            <a:off x="812902" y="4206240"/>
            <a:ext cx="2353666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1" name="text-264"/>
          <p:cNvSpPr txBox="1"/>
          <p:nvPr/>
        </p:nvSpPr>
        <p:spPr>
          <a:xfrm>
            <a:off x="995782" y="4343400"/>
            <a:ext cx="1987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F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Diplomarbeit</a:t>
            </a:r>
            <a:endParaRPr lang="en-US" sz="1300" dirty="0"/>
          </a:p>
        </p:txBody>
      </p:sp>
      <p:sp>
        <p:nvSpPr>
          <p:cNvPr id="22" name="text-265"/>
          <p:cNvSpPr txBox="1"/>
          <p:nvPr/>
        </p:nvSpPr>
        <p:spPr>
          <a:xfrm>
            <a:off x="995782" y="4663440"/>
            <a:ext cx="19879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Drohne fliegt autonom</a:t>
            </a:r>
            <a:endParaRPr lang="en-US" sz="1300" dirty="0"/>
          </a:p>
        </p:txBody>
      </p:sp>
      <p:sp>
        <p:nvSpPr>
          <p:cNvPr id="23" name="step-arrow-0"/>
          <p:cNvSpPr/>
          <p:nvPr/>
        </p:nvSpPr>
        <p:spPr>
          <a:xfrm>
            <a:off x="3221431" y="4672584"/>
            <a:ext cx="274320" cy="201168"/>
          </a:xfrm>
          <a:prstGeom prst="right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4" name="shape-266"/>
          <p:cNvSpPr/>
          <p:nvPr/>
        </p:nvSpPr>
        <p:spPr>
          <a:xfrm>
            <a:off x="3550615" y="4206240"/>
            <a:ext cx="2353666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5" name="text-267"/>
          <p:cNvSpPr txBox="1"/>
          <p:nvPr/>
        </p:nvSpPr>
        <p:spPr>
          <a:xfrm>
            <a:off x="3733495" y="4343400"/>
            <a:ext cx="1987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Nachbau</a:t>
            </a:r>
            <a:endParaRPr lang="en-US" sz="1300" dirty="0"/>
          </a:p>
        </p:txBody>
      </p:sp>
      <p:sp>
        <p:nvSpPr>
          <p:cNvPr id="26" name="text-268"/>
          <p:cNvSpPr txBox="1"/>
          <p:nvPr/>
        </p:nvSpPr>
        <p:spPr>
          <a:xfrm>
            <a:off x="3733495" y="4663440"/>
            <a:ext cx="19879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Baugleiche Drohnen per 3D-Druck</a:t>
            </a:r>
            <a:endParaRPr lang="en-US" sz="1300" dirty="0"/>
          </a:p>
        </p:txBody>
      </p:sp>
      <p:sp>
        <p:nvSpPr>
          <p:cNvPr id="27" name="step-arrow-1"/>
          <p:cNvSpPr/>
          <p:nvPr/>
        </p:nvSpPr>
        <p:spPr>
          <a:xfrm>
            <a:off x="5959145" y="4672584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8" name="shape-269"/>
          <p:cNvSpPr/>
          <p:nvPr/>
        </p:nvSpPr>
        <p:spPr>
          <a:xfrm>
            <a:off x="6288329" y="4206240"/>
            <a:ext cx="2353666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9" name="text-270"/>
          <p:cNvSpPr txBox="1"/>
          <p:nvPr/>
        </p:nvSpPr>
        <p:spPr>
          <a:xfrm>
            <a:off x="6471209" y="4343400"/>
            <a:ext cx="1987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Vernetzung</a:t>
            </a:r>
            <a:endParaRPr lang="en-US" sz="1300" dirty="0"/>
          </a:p>
        </p:txBody>
      </p:sp>
      <p:sp>
        <p:nvSpPr>
          <p:cNvPr id="30" name="text-271"/>
          <p:cNvSpPr txBox="1"/>
          <p:nvPr/>
        </p:nvSpPr>
        <p:spPr>
          <a:xfrm>
            <a:off x="6471209" y="4663440"/>
            <a:ext cx="19879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 und Kollisionsvermeidung</a:t>
            </a:r>
            <a:endParaRPr lang="en-US" sz="1300" dirty="0"/>
          </a:p>
        </p:txBody>
      </p:sp>
      <p:sp>
        <p:nvSpPr>
          <p:cNvPr id="31" name="step-arrow-2"/>
          <p:cNvSpPr/>
          <p:nvPr/>
        </p:nvSpPr>
        <p:spPr>
          <a:xfrm>
            <a:off x="8696858" y="4672584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32" name="shape-272"/>
          <p:cNvSpPr/>
          <p:nvPr/>
        </p:nvSpPr>
        <p:spPr>
          <a:xfrm>
            <a:off x="9026042" y="4206240"/>
            <a:ext cx="2353666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3" name="text-273"/>
          <p:cNvSpPr txBox="1"/>
          <p:nvPr/>
        </p:nvSpPr>
        <p:spPr>
          <a:xfrm>
            <a:off x="9208922" y="4343400"/>
            <a:ext cx="1987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Schwarmflug</a:t>
            </a:r>
            <a:endParaRPr lang="en-US" sz="1300" dirty="0"/>
          </a:p>
        </p:txBody>
      </p:sp>
      <p:sp>
        <p:nvSpPr>
          <p:cNvPr id="34" name="text-274"/>
          <p:cNvSpPr txBox="1"/>
          <p:nvPr/>
        </p:nvSpPr>
        <p:spPr>
          <a:xfrm>
            <a:off x="9208922" y="4663440"/>
            <a:ext cx="19879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Erkundung</a:t>
            </a:r>
            <a:endParaRPr lang="en-US" sz="1300" dirty="0"/>
          </a:p>
        </p:txBody>
      </p:sp>
      <p:sp>
        <p:nvSpPr>
          <p:cNvPr id="35" name="footer"/>
          <p:cNvSpPr txBox="1"/>
          <p:nvPr/>
        </p:nvSpPr>
        <p:spPr>
          <a:xfrm>
            <a:off x="812902" y="6236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je weiterer Drohne ca. € 713 (Richtwert) · Anzahl: [__] Drohnen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75"/>
          <p:cNvSpPr txBox="1"/>
          <p:nvPr/>
        </p:nvSpPr>
        <p:spPr>
          <a:xfrm>
            <a:off x="812902" y="2011680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B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AQS · AUTONOMES QUADROCOPTER-SYSTEM</a:t>
            </a:r>
            <a:endParaRPr lang="en-US" sz="1200" dirty="0"/>
          </a:p>
        </p:txBody>
      </p:sp>
      <p:sp>
        <p:nvSpPr>
          <p:cNvPr id="3" name="text-276"/>
          <p:cNvSpPr txBox="1"/>
          <p:nvPr/>
        </p:nvSpPr>
        <p:spPr>
          <a:xfrm>
            <a:off x="812902" y="2423160"/>
            <a:ext cx="1056680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5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Danke!</a:t>
            </a:r>
            <a:endParaRPr lang="en-US" sz="5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5800" dirty="0"/>
          </a:p>
        </p:txBody>
      </p:sp>
      <p:sp>
        <p:nvSpPr>
          <p:cNvPr id="4" name="text-277"/>
          <p:cNvSpPr txBox="1"/>
          <p:nvPr/>
        </p:nvSpPr>
        <p:spPr>
          <a:xfrm>
            <a:off x="812902" y="4389120"/>
            <a:ext cx="105668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Derick Miguel Esguerra · Noah Dallamassl · 5AHWII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QS">
  <a:themeElements>
    <a:clrScheme name="AQS">
      <a:dk1>
        <a:srgbClr val="0E2841"/>
      </a:dk1>
      <a:lt1>
        <a:srgbClr val="FFFFFF"/>
      </a:lt1>
      <a:dk2>
        <a:srgbClr val="3D4A5C"/>
      </a:dk2>
      <a:lt2>
        <a:srgbClr val="F5F6F9"/>
      </a:lt2>
      <a:accent1>
        <a:srgbClr val="1F5FBF"/>
      </a:accent1>
      <a:accent2>
        <a:srgbClr val="E06A1B"/>
      </a:accent2>
      <a:accent3>
        <a:srgbClr val="5BA3EC"/>
      </a:accent3>
      <a:accent4>
        <a:srgbClr val="156082"/>
      </a:accent4>
      <a:accent5>
        <a:srgbClr val="6B7689"/>
      </a:accent5>
      <a:accent6>
        <a:srgbClr val="C0392B"/>
      </a:accent6>
      <a:hlink>
        <a:srgbClr val="1F5FBF"/>
      </a:hlink>
      <a:folHlink>
        <a:srgbClr val="156082"/>
      </a:folHlink>
    </a:clrScheme>
    <a:fontScheme name="AQ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2270</Words>
  <Application>Microsoft Macintosh PowerPoint</Application>
  <PresentationFormat>Widescreen</PresentationFormat>
  <Paragraphs>395</Paragraphs>
  <Slides>22</Slides>
  <Notes>22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AQS</vt:lpstr>
      <vt:lpstr>PowerPoint Presentation</vt:lpstr>
      <vt:lpstr>Worum es geht</vt:lpstr>
      <vt:lpstr>Unsere Ziele</vt:lpstr>
      <vt:lpstr>Wer macht was</vt:lpstr>
      <vt:lpstr>PowerPoint Presentation</vt:lpstr>
      <vt:lpstr>Was erledigt ist, was läuft, was kommt</vt:lpstr>
      <vt:lpstr>Prototyp 1: aufgebaut und geflogen</vt:lpstr>
      <vt:lpstr>Erstflug mit RC-Fernsteuerung</vt:lpstr>
      <vt:lpstr>Vom Testdruck zum richtigen Material</vt:lpstr>
      <vt:lpstr>Prototyp 2: Schwerpunkt in der Mitte</vt:lpstr>
      <vt:lpstr>Objekterkennung auf dem Hailo-8L</vt:lpstr>
      <vt:lpstr>Schaltplan</vt:lpstr>
      <vt:lpstr>Projektphasen 2026/27</vt:lpstr>
      <vt:lpstr>Projektstrukturplan: 6 Teilprojekte, 23 Arbeitspakete</vt:lpstr>
      <vt:lpstr>Zeitplan</vt:lpstr>
      <vt:lpstr>Meilensteine</vt:lpstr>
      <vt:lpstr>Netzplan: der kritische Pfad</vt:lpstr>
      <vt:lpstr>Die größten Risiken</vt:lpstr>
      <vt:lpstr>Kosten und Aufwand</vt:lpstr>
      <vt:lpstr>Nächste Schritte bis zur Zwischenpräsentation 2</vt:lpstr>
      <vt:lpstr>Vom einzelnen Quadrocopter zum Schwarm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AQS – Zwischenstand Diplomarbeit</dc:title>
  <dc:subject>PptxGenJS Presentation</dc:subject>
  <dc:creator>Derick Miguel Esguerra, Noah Dallamassl</dc:creator>
  <cp:lastModifiedBy>Derick Miguel Esguerra</cp:lastModifiedBy>
  <cp:revision>2</cp:revision>
  <dcterms:created xsi:type="dcterms:W3CDTF">2026-10-22T09:10:37Z</dcterms:created>
  <dcterms:modified xsi:type="dcterms:W3CDTF">2026-10-26T14:46:45Z</dcterms:modified>
</cp:coreProperties>
</file>